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2b4b532a-a123-30bd-c74e-301d2ce34c0d}">
          <p14:sldIdLst>
            <p14:sldId id="256"/>
          </p14:sldIdLst>
        </p14:section>
        <p14:section name="Default-1" id="{d7dc0204-cac1-8c12-ba80-7005905ee060}">
          <p14:sldIdLst>
            <p14:sldId id="257"/>
            <p14:sldId id="258"/>
            <p14:sldId id="259"/>
            <p14:sldId id="260"/>
          </p14:sldIdLst>
        </p14:section>
        <p14:section name="Neraca air dan cara kerja" id="{8f5c0447-6c9a-d25c-1aaa-59461258faf5}">
          <p14:sldIdLst>
            <p14:sldId id="261"/>
            <p14:sldId id="262"/>
            <p14:sldId id="263"/>
            <p14:sldId id="264"/>
            <p14:sldId id="265"/>
          </p14:sldIdLst>
        </p14:section>
        <p14:section name="Alat, anggaran, jadwal" id="{50fe1e3d-4059-38f9-bfea-441c572479b4}">
          <p14:sldIdLst>
            <p14:sldId id="266"/>
            <p14:sldId id="267"/>
            <p14:sldId id="268"/>
            <p14:sldId id="269"/>
            <p14:sldId id="270"/>
          </p14:sldIdLst>
        </p14:section>
        <p14:section name="Penutup" id="{fcbe200f-5a00-8c5d-e6de-bb931f50f7e3}">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lima toren di lima desa, tiga titik ukur per toren. Total sekitar Rp28 juta, dua belas minggu.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masalah inti pengelola: kebocoran, iuran, dan jarak. Semua berakar pada tidak adanya data debit.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foto toren bila ada. Tuwiri Kulon pipa keluarnya setengah inci, jadi DN15.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angka kunci: biaya, ketelitian, waktu. Semua komponen dari toko lokal dan marketplace.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sasaran terukur, lalu manfaat untuk tiga pihak.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inti usulannya. Tekankan kenapa harus tiga pengukuran, bukan dua.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empat lapisan dari atas ke bawah. Tekankan GSM dipilih setelah survei sinyal.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bahwa modul GSM butuh kapasitor besar karena lonjakan arus saat transmisi.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cabang buffer lokal: itu yang membedakan alat ini dari prototipe lab biasa.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Aliran malam adalah indikator paling berharga; itu yang membedakan bocor dengan pemakaian wajar.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Alasan utama: aliran gravitasi malam hari sangat kecil, hanya meteran kelas B yang membacanya.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Enam bagian; kalau ditanya detail, rujuk ke tabel di dokumen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tiga lapis anggaran: biaya dasar, cadangan risiko dari nilai harapan, cadangan manajemen 5 %. Pulsa data Rp250 ribu per bulan ditanggung desa.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Sembilan tahap. Uji coba dipakai untuk kalibrasi level toren kosong dan penuh serta menyetel ambang alarm tiap desa.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bahwa semua komponen bisa dibeli di toko lokal; tidak ada ketergantungan pada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tiga data survei yang dibutuhkan, lalu buka sesi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3B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rtlCol="0"/>
          <a:lstStyle>
            <a:lvl1pPr indent="0" marL="0">
              <a:buNone/>
              <a:defRPr lang="en-US" sz="1200" b="1" spc="200" kern="0" dirty="0">
                <a:solidFill>
                  <a:srgbClr val="D85A30"/>
                </a:solidFill>
              </a:defRPr>
            </a:lvl1pPr>
          </a:lstStyle>
          <a:p>
            <a:pPr indent="0" marL="0">
              <a:buNone/>
            </a:pP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rtlCol="0"/>
          <a:lstStyle>
            <a:lvl1pPr algn="l" indent="0" marL="0">
              <a:buNone/>
              <a:defRPr lang="en-US" sz="2800" b="1" dirty="0">
                <a:solidFill>
                  <a:srgbClr val="14211E"/>
                </a:solidFill>
              </a:defRPr>
            </a:lvl1pPr>
          </a:lstStyle>
          <a:p>
            <a:pPr algn="l" indent="0" marL="0">
              <a:buNone/>
            </a:pPr>
            <a:endParaRPr lang="en-US" sz="28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4A5568"/>
                </a:solidFill>
              </a:rPr>
              <a:t>Proposal PkM, Teknik Elektro UNTAG Surabaya</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EEF2E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rtlCol="0"/>
          <a:lstStyle>
            <a:lvl1pPr indent="0" marL="0">
              <a:buNone/>
              <a:defRPr lang="en-US" sz="1200" b="1" spc="200" kern="0" dirty="0">
                <a:solidFill>
                  <a:srgbClr val="D85A30"/>
                </a:solidFill>
              </a:defRPr>
            </a:lvl1pPr>
          </a:lstStyle>
          <a:p>
            <a:pPr indent="0" marL="0">
              <a:buNone/>
            </a:pP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rtlCol="0"/>
          <a:lstStyle>
            <a:lvl1pPr algn="l" indent="0" marL="0">
              <a:buNone/>
              <a:defRPr lang="en-US" sz="2800" b="1" dirty="0">
                <a:solidFill>
                  <a:srgbClr val="14211E"/>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1520" y="731520"/>
            <a:ext cx="640080" cy="54864"/>
          </a:xfrm>
          <a:prstGeom prst="rect">
            <a:avLst/>
          </a:prstGeom>
          <a:solidFill>
            <a:srgbClr val="F5C4B3"/>
          </a:solidFill>
          <a:ln w="12700">
            <a:solidFill>
              <a:srgbClr val="F5C4B3"/>
            </a:solidFill>
            <a:prstDash val="solid"/>
          </a:ln>
        </p:spPr>
      </p:sp>
      <p:sp>
        <p:nvSpPr>
          <p:cNvPr id="3" name="Text 1"/>
          <p:cNvSpPr txBox="1"/>
          <p:nvPr/>
        </p:nvSpPr>
        <p:spPr>
          <a:xfrm>
            <a:off x="731520" y="1005840"/>
            <a:ext cx="10058400" cy="365760"/>
          </a:xfrm>
          <a:prstGeom prst="rect">
            <a:avLst/>
          </a:prstGeom>
          <a:noFill/>
          <a:ln/>
        </p:spPr>
        <p:txBody>
          <a:bodyPr wrap="square" lIns="0" tIns="0" rIns="0" bIns="0" rtlCol="0" anchor="ctr"/>
          <a:lstStyle/>
          <a:p>
            <a:pPr indent="0" marL="0">
              <a:buNone/>
            </a:pPr>
            <a:r>
              <a:rPr lang="en-US" sz="1300" b="1" spc="300" kern="0" dirty="0">
                <a:solidFill>
                  <a:srgbClr val="9FE1CB"/>
                </a:solidFill>
              </a:rPr>
              <a:t>PROPOSAL PENGABDIAN KEPADA MASYARAKAT</a:t>
            </a:r>
            <a:endParaRPr lang="en-US" sz="1300" dirty="0"/>
          </a:p>
        </p:txBody>
      </p:sp>
      <p:sp>
        <p:nvSpPr>
          <p:cNvPr id="4" name="Text 2"/>
          <p:cNvSpPr txBox="1"/>
          <p:nvPr/>
        </p:nvSpPr>
        <p:spPr>
          <a:xfrm>
            <a:off x="731520" y="1554480"/>
            <a:ext cx="10515600" cy="1828800"/>
          </a:xfrm>
          <a:prstGeom prst="rect">
            <a:avLst/>
          </a:prstGeom>
          <a:noFill/>
          <a:ln/>
        </p:spPr>
        <p:txBody>
          <a:bodyPr wrap="square" lIns="0" tIns="0" rIns="0" bIns="0" rtlCol="0" anchor="t"/>
          <a:lstStyle/>
          <a:p>
            <a:pPr indent="0" marL="0">
              <a:buNone/>
            </a:pPr>
            <a:r>
              <a:rPr lang="en-US" sz="4400" b="1" dirty="0">
                <a:solidFill>
                  <a:srgbClr val="FFFFFF"/>
                </a:solidFill>
              </a:rPr>
              <a:t>Sistem Monitoring Toren Air Desa Berbasis IoT</a:t>
            </a:r>
            <a:endParaRPr lang="en-US" sz="4400" dirty="0"/>
          </a:p>
        </p:txBody>
      </p:sp>
      <p:sp>
        <p:nvSpPr>
          <p:cNvPr id="5" name="Text 3"/>
          <p:cNvSpPr txBox="1"/>
          <p:nvPr/>
        </p:nvSpPr>
        <p:spPr>
          <a:xfrm>
            <a:off x="731520" y="3383280"/>
            <a:ext cx="9144000" cy="548640"/>
          </a:xfrm>
          <a:prstGeom prst="rect">
            <a:avLst/>
          </a:prstGeom>
          <a:noFill/>
          <a:ln/>
        </p:spPr>
        <p:txBody>
          <a:bodyPr wrap="square" lIns="0" tIns="0" rIns="0" bIns="0" rtlCol="0" anchor="ctr"/>
          <a:lstStyle/>
          <a:p>
            <a:pPr indent="0" marL="0">
              <a:buNone/>
            </a:pPr>
            <a:r>
              <a:rPr lang="en-US" sz="1800" dirty="0">
                <a:solidFill>
                  <a:srgbClr val="BFD8D5"/>
                </a:solidFill>
              </a:rPr>
              <a:t>Air masuk, air keluar, dan isi toren di lima desa Kabupaten Tuban, dipantau dari ponsel</a:t>
            </a:r>
            <a:endParaRPr lang="en-US" sz="1800" dirty="0"/>
          </a:p>
        </p:txBody>
      </p:sp>
      <p:sp>
        <p:nvSpPr>
          <p:cNvPr id="6" name="Text 4"/>
          <p:cNvSpPr txBox="1"/>
          <p:nvPr/>
        </p:nvSpPr>
        <p:spPr>
          <a:xfrm>
            <a:off x="731520" y="5120640"/>
            <a:ext cx="10058400" cy="1188720"/>
          </a:xfrm>
          <a:prstGeom prst="rect">
            <a:avLst/>
          </a:prstGeom>
          <a:noFill/>
          <a:ln/>
        </p:spPr>
        <p:txBody>
          <a:bodyPr wrap="square" lIns="0" tIns="0" rIns="0" bIns="0" rtlCol="0" anchor="t"/>
          <a:lstStyle/>
          <a:p>
            <a:pPr indent="0" marL="0">
              <a:buNone/>
            </a:pPr>
            <a:r>
              <a:rPr lang="en-US" sz="1600" b="1" dirty="0">
                <a:solidFill>
                  <a:srgbClr val="FFFFFF"/>
                </a:solidFill>
              </a:rPr>
              <a:t>Ir. Ratna Hartayu, M.T.</a:t>
            </a:r>
            <a:endParaRPr lang="en-US" sz="1600" dirty="0"/>
          </a:p>
          <a:p>
            <a:pPr indent="0" marL="0">
              <a:buNone/>
            </a:pPr>
            <a:r>
              <a:rPr lang="en-US" sz="1200" dirty="0">
                <a:solidFill>
                  <a:srgbClr val="BFD8D5"/>
                </a:solidFill>
              </a:rPr>
              <a:t>Program Studi S1 Teknik Elektro, Fakultas Teknologi Elektro dan Informatika Cerdas, Universitas 17 Agustus 1945 Surabaya</a:t>
            </a:r>
            <a:endParaRPr lang="en-US" sz="1600" dirty="0"/>
          </a:p>
          <a:p>
            <a:pPr indent="0" marL="0">
              <a:buNone/>
            </a:pPr>
            <a:r>
              <a:rPr lang="en-US" sz="1200" dirty="0">
                <a:solidFill>
                  <a:srgbClr val="9FE1CB"/>
                </a:solidFill>
              </a:rPr>
              <a:t>Oktober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LATAR BELAKANG</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Di lima desa, pompa mengisi toren 2.000 L lalu air mengalir ke warga, tapi tidak ada yang tahu berapa yang dipompa dan berapa yang sampai</a:t>
            </a:r>
            <a:endParaRPr lang="en-US" sz="2800" dirty="0"/>
          </a:p>
        </p:txBody>
      </p:sp>
      <p:sp>
        <p:nvSpPr>
          <p:cNvPr id="4" name="Shape 2"/>
          <p:cNvSpPr/>
          <p:nvPr/>
        </p:nvSpPr>
        <p:spPr>
          <a:xfrm>
            <a:off x="548640" y="2194560"/>
            <a:ext cx="3566160" cy="2377440"/>
          </a:xfrm>
          <a:prstGeom prst="roundRect">
            <a:avLst>
              <a:gd name="adj" fmla="val 4615"/>
            </a:avLst>
          </a:prstGeom>
          <a:solidFill>
            <a:srgbClr val="FFFFFF"/>
          </a:solidFill>
          <a:ln w="9525">
            <a:solidFill>
              <a:srgbClr val="D9D6CC"/>
            </a:solidFill>
            <a:prstDash val="solid"/>
          </a:ln>
        </p:spPr>
      </p:sp>
      <p:sp>
        <p:nvSpPr>
          <p:cNvPr id="5" name="Text 3"/>
          <p:cNvSpPr txBox="1"/>
          <p:nvPr/>
        </p:nvSpPr>
        <p:spPr>
          <a:xfrm>
            <a:off x="777240" y="2377440"/>
            <a:ext cx="3108960" cy="365760"/>
          </a:xfrm>
          <a:prstGeom prst="rect">
            <a:avLst/>
          </a:prstGeom>
          <a:noFill/>
          <a:ln/>
        </p:spPr>
        <p:txBody>
          <a:bodyPr wrap="square" lIns="0" tIns="0" rIns="0" bIns="0" rtlCol="0" anchor="ctr"/>
          <a:lstStyle/>
          <a:p>
            <a:pPr indent="0" marL="0">
              <a:buNone/>
            </a:pPr>
            <a:r>
              <a:rPr lang="en-US" sz="1600" b="1" dirty="0">
                <a:solidFill>
                  <a:srgbClr val="14211E"/>
                </a:solidFill>
              </a:rPr>
              <a:t>Kebocoran terlambat diketahui</a:t>
            </a:r>
            <a:endParaRPr lang="en-US" sz="1600" dirty="0"/>
          </a:p>
        </p:txBody>
      </p:sp>
      <p:sp>
        <p:nvSpPr>
          <p:cNvPr id="6" name="Text 4"/>
          <p:cNvSpPr txBox="1"/>
          <p:nvPr/>
        </p:nvSpPr>
        <p:spPr>
          <a:xfrm>
            <a:off x="777240" y="2788920"/>
            <a:ext cx="3108960" cy="1600200"/>
          </a:xfrm>
          <a:prstGeom prst="rect">
            <a:avLst/>
          </a:prstGeom>
          <a:noFill/>
          <a:ln/>
        </p:spPr>
        <p:txBody>
          <a:bodyPr wrap="square" lIns="0" tIns="0" rIns="0" bIns="0" rtlCol="0" anchor="t"/>
          <a:lstStyle/>
          <a:p>
            <a:pPr indent="0" marL="0">
              <a:spcAft>
                <a:spcPts val="400"/>
              </a:spcAft>
              <a:buNone/>
            </a:pPr>
            <a:r>
              <a:rPr lang="en-US" sz="1400" dirty="0">
                <a:solidFill>
                  <a:srgbClr val="4A5568"/>
                </a:solidFill>
              </a:rPr>
              <a:t>Pipa distribusi baru ketahuan bocor setelah tanah becek; toren yang rembes atau luber tidak pernah ketahuan.</a:t>
            </a:r>
            <a:endParaRPr lang="en-US" sz="1400" dirty="0"/>
          </a:p>
        </p:txBody>
      </p:sp>
      <p:sp>
        <p:nvSpPr>
          <p:cNvPr id="7" name="Shape 5"/>
          <p:cNvSpPr/>
          <p:nvPr/>
        </p:nvSpPr>
        <p:spPr>
          <a:xfrm>
            <a:off x="4297680" y="2194560"/>
            <a:ext cx="3566160" cy="2377440"/>
          </a:xfrm>
          <a:prstGeom prst="roundRect">
            <a:avLst>
              <a:gd name="adj" fmla="val 4615"/>
            </a:avLst>
          </a:prstGeom>
          <a:solidFill>
            <a:srgbClr val="FFFFFF"/>
          </a:solidFill>
          <a:ln w="9525">
            <a:solidFill>
              <a:srgbClr val="D9D6CC"/>
            </a:solidFill>
            <a:prstDash val="solid"/>
          </a:ln>
        </p:spPr>
      </p:sp>
      <p:sp>
        <p:nvSpPr>
          <p:cNvPr id="8" name="Text 6"/>
          <p:cNvSpPr txBox="1"/>
          <p:nvPr/>
        </p:nvSpPr>
        <p:spPr>
          <a:xfrm>
            <a:off x="4526280" y="2377440"/>
            <a:ext cx="3108960" cy="365760"/>
          </a:xfrm>
          <a:prstGeom prst="rect">
            <a:avLst/>
          </a:prstGeom>
          <a:noFill/>
          <a:ln/>
        </p:spPr>
        <p:txBody>
          <a:bodyPr wrap="square" lIns="0" tIns="0" rIns="0" bIns="0" rtlCol="0" anchor="ctr"/>
          <a:lstStyle/>
          <a:p>
            <a:pPr indent="0" marL="0">
              <a:buNone/>
            </a:pPr>
            <a:r>
              <a:rPr lang="en-US" sz="1600" b="1" dirty="0">
                <a:solidFill>
                  <a:srgbClr val="14211E"/>
                </a:solidFill>
              </a:rPr>
              <a:t>Iuran dipukul rata</a:t>
            </a:r>
            <a:endParaRPr lang="en-US" sz="1600" dirty="0"/>
          </a:p>
        </p:txBody>
      </p:sp>
      <p:sp>
        <p:nvSpPr>
          <p:cNvPr id="9" name="Text 7"/>
          <p:cNvSpPr txBox="1"/>
          <p:nvPr/>
        </p:nvSpPr>
        <p:spPr>
          <a:xfrm>
            <a:off x="4526280" y="2788920"/>
            <a:ext cx="3108960" cy="1600200"/>
          </a:xfrm>
          <a:prstGeom prst="rect">
            <a:avLst/>
          </a:prstGeom>
          <a:noFill/>
          <a:ln/>
        </p:spPr>
        <p:txBody>
          <a:bodyPr wrap="square" lIns="0" tIns="0" rIns="0" bIns="0" rtlCol="0" anchor="t"/>
          <a:lstStyle/>
          <a:p>
            <a:pPr indent="0" marL="0">
              <a:spcAft>
                <a:spcPts val="400"/>
              </a:spcAft>
              <a:buNone/>
            </a:pPr>
            <a:r>
              <a:rPr lang="en-US" sz="1400" dirty="0">
                <a:solidFill>
                  <a:srgbClr val="4A5568"/>
                </a:solidFill>
              </a:rPr>
              <a:t>Tanpa angka volume, iuran tidak punya dasar dan sering memicu ketidakpuasan warga.</a:t>
            </a:r>
            <a:endParaRPr lang="en-US" sz="1400" dirty="0"/>
          </a:p>
        </p:txBody>
      </p:sp>
      <p:sp>
        <p:nvSpPr>
          <p:cNvPr id="10" name="Shape 8"/>
          <p:cNvSpPr/>
          <p:nvPr/>
        </p:nvSpPr>
        <p:spPr>
          <a:xfrm>
            <a:off x="8046720" y="2194560"/>
            <a:ext cx="3566160" cy="2377440"/>
          </a:xfrm>
          <a:prstGeom prst="roundRect">
            <a:avLst>
              <a:gd name="adj" fmla="val 4615"/>
            </a:avLst>
          </a:prstGeom>
          <a:solidFill>
            <a:srgbClr val="FFFFFF"/>
          </a:solidFill>
          <a:ln w="9525">
            <a:solidFill>
              <a:srgbClr val="D9D6CC"/>
            </a:solidFill>
            <a:prstDash val="solid"/>
          </a:ln>
        </p:spPr>
      </p:sp>
      <p:sp>
        <p:nvSpPr>
          <p:cNvPr id="11" name="Text 9"/>
          <p:cNvSpPr txBox="1"/>
          <p:nvPr/>
        </p:nvSpPr>
        <p:spPr>
          <a:xfrm>
            <a:off x="8275320" y="2377440"/>
            <a:ext cx="3108960" cy="365760"/>
          </a:xfrm>
          <a:prstGeom prst="rect">
            <a:avLst/>
          </a:prstGeom>
          <a:noFill/>
          <a:ln/>
        </p:spPr>
        <p:txBody>
          <a:bodyPr wrap="square" lIns="0" tIns="0" rIns="0" bIns="0" rtlCol="0" anchor="ctr"/>
          <a:lstStyle/>
          <a:p>
            <a:pPr indent="0" marL="0">
              <a:buNone/>
            </a:pPr>
            <a:r>
              <a:rPr lang="en-US" sz="1600" b="1" dirty="0">
                <a:solidFill>
                  <a:srgbClr val="14211E"/>
                </a:solidFill>
              </a:rPr>
              <a:t>Lima desa berjauhan</a:t>
            </a:r>
            <a:endParaRPr lang="en-US" sz="1600" dirty="0"/>
          </a:p>
        </p:txBody>
      </p:sp>
      <p:sp>
        <p:nvSpPr>
          <p:cNvPr id="12" name="Text 10"/>
          <p:cNvSpPr txBox="1"/>
          <p:nvPr/>
        </p:nvSpPr>
        <p:spPr>
          <a:xfrm>
            <a:off x="8275320" y="2788920"/>
            <a:ext cx="3108960" cy="1600200"/>
          </a:xfrm>
          <a:prstGeom prst="rect">
            <a:avLst/>
          </a:prstGeom>
          <a:noFill/>
          <a:ln/>
        </p:spPr>
        <p:txBody>
          <a:bodyPr wrap="square" lIns="0" tIns="0" rIns="0" bIns="0" rtlCol="0" anchor="t"/>
          <a:lstStyle/>
          <a:p>
            <a:pPr indent="0" marL="0">
              <a:spcAft>
                <a:spcPts val="400"/>
              </a:spcAft>
              <a:buNone/>
            </a:pPr>
            <a:r>
              <a:rPr lang="en-US" sz="1400" dirty="0">
                <a:solidFill>
                  <a:srgbClr val="4A5568"/>
                </a:solidFill>
              </a:rPr>
              <a:t>Pencatatan manual tidak jalan; pengelola juga tidak tahu berapa jam pompa bekerja tiap hari.</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LOKASI</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Lima toren Hidro 2.000 L di atas rumah pompa, lima desa, empat kecamatan di Kabupaten Tuban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3749040"/>
                <a:gridCol w="1828800"/>
                <a:gridCol w="1828800"/>
                <a:gridCol w="1828800"/>
                <a:gridCol w="1828800"/>
              </a:tblGrid>
              <a:tr h="457200">
                <a:tc>
                  <a:txBody>
                    <a:bodyPr/>
                    <a:lstStyle/>
                    <a:p>
                      <a:pPr indent="0" marL="0">
                        <a:buNone/>
                      </a:pPr>
                      <a:r>
                        <a:rPr lang="en-US" sz="1400" b="1" dirty="0">
                          <a:solidFill>
                            <a:srgbClr val="FFFFFF"/>
                          </a:solidFill>
                        </a:rPr>
                        <a:t>Desa, kecamatan</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0B3B33"/>
                    </a:solidFill>
                  </a:tcPr>
                </a:tc>
                <a:tc>
                  <a:txBody>
                    <a:bodyPr/>
                    <a:lstStyle/>
                    <a:p>
                      <a:pPr indent="0" marL="0">
                        <a:buNone/>
                      </a:pPr>
                      <a:r>
                        <a:rPr lang="en-US" sz="1400" b="1" dirty="0">
                          <a:solidFill>
                            <a:srgbClr val="FFFFFF"/>
                          </a:solidFill>
                        </a:rPr>
                        <a:t>Pipa masuk</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0B3B33"/>
                    </a:solidFill>
                  </a:tcPr>
                </a:tc>
                <a:tc>
                  <a:txBody>
                    <a:bodyPr/>
                    <a:lstStyle/>
                    <a:p>
                      <a:pPr indent="0" marL="0">
                        <a:buNone/>
                      </a:pPr>
                      <a:r>
                        <a:rPr lang="en-US" sz="1400" b="1" dirty="0">
                          <a:solidFill>
                            <a:srgbClr val="FFFFFF"/>
                          </a:solidFill>
                        </a:rPr>
                        <a:t>Meter masuk</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0B3B33"/>
                    </a:solidFill>
                  </a:tcPr>
                </a:tc>
                <a:tc>
                  <a:txBody>
                    <a:bodyPr/>
                    <a:lstStyle/>
                    <a:p>
                      <a:pPr indent="0" marL="0">
                        <a:buNone/>
                      </a:pPr>
                      <a:r>
                        <a:rPr lang="en-US" sz="1400" b="1" dirty="0">
                          <a:solidFill>
                            <a:srgbClr val="FFFFFF"/>
                          </a:solidFill>
                        </a:rPr>
                        <a:t>Pipa keluar</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0B3B33"/>
                    </a:solidFill>
                  </a:tcPr>
                </a:tc>
                <a:tc>
                  <a:txBody>
                    <a:bodyPr/>
                    <a:lstStyle/>
                    <a:p>
                      <a:pPr indent="0" marL="0">
                        <a:buNone/>
                      </a:pPr>
                      <a:r>
                        <a:rPr lang="en-US" sz="1400" b="1" dirty="0">
                          <a:solidFill>
                            <a:srgbClr val="FFFFFF"/>
                          </a:solidFill>
                        </a:rPr>
                        <a:t>Meter keluar</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0B3B33"/>
                    </a:solidFill>
                  </a:tcPr>
                </a:tc>
              </a:tr>
              <a:tr h="457200">
                <a:tc>
                  <a:txBody>
                    <a:bodyPr/>
                    <a:lstStyle/>
                    <a:p>
                      <a:pPr indent="0" marL="0">
                        <a:buNone/>
                      </a:pPr>
                      <a:r>
                        <a:rPr lang="en-US" sz="1400" dirty="0">
                          <a:solidFill>
                            <a:srgbClr val="14211E"/>
                          </a:solidFill>
                        </a:rPr>
                        <a:t>Mander, Tambakboyo</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¾ inci</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DN20</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1½ inci</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DN40</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r>
              <a:tr h="457200">
                <a:tc>
                  <a:txBody>
                    <a:bodyPr/>
                    <a:lstStyle/>
                    <a:p>
                      <a:pPr indent="0" marL="0">
                        <a:buNone/>
                      </a:pPr>
                      <a:r>
                        <a:rPr lang="en-US" sz="1400" dirty="0">
                          <a:solidFill>
                            <a:srgbClr val="14211E"/>
                          </a:solidFill>
                        </a:rPr>
                        <a:t>Bader, Jatirogo</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1 inci</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DN25</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1½ inci</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DN40</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r>
              <a:tr h="457200">
                <a:tc>
                  <a:txBody>
                    <a:bodyPr/>
                    <a:lstStyle/>
                    <a:p>
                      <a:pPr indent="0" marL="0">
                        <a:buNone/>
                      </a:pPr>
                      <a:r>
                        <a:rPr lang="en-US" sz="1400" dirty="0">
                          <a:solidFill>
                            <a:srgbClr val="14211E"/>
                          </a:solidFill>
                        </a:rPr>
                        <a:t>Tuwiri Kulon, Merakurak</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1 inci</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DN25</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½ inci</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DN15</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r>
              <a:tr h="457200">
                <a:tc>
                  <a:txBody>
                    <a:bodyPr/>
                    <a:lstStyle/>
                    <a:p>
                      <a:pPr indent="0" marL="0">
                        <a:buNone/>
                      </a:pPr>
                      <a:r>
                        <a:rPr lang="en-US" sz="1400" dirty="0">
                          <a:solidFill>
                            <a:srgbClr val="14211E"/>
                          </a:solidFill>
                        </a:rPr>
                        <a:t>Kabluan, Bangilan</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¾ inci</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DN20</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1½ inci</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DN40</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r>
              <a:tr h="457200">
                <a:tc>
                  <a:txBody>
                    <a:bodyPr/>
                    <a:lstStyle/>
                    <a:p>
                      <a:pPr indent="0" marL="0">
                        <a:buNone/>
                      </a:pPr>
                      <a:r>
                        <a:rPr lang="en-US" sz="1400" dirty="0">
                          <a:solidFill>
                            <a:srgbClr val="14211E"/>
                          </a:solidFill>
                        </a:rPr>
                        <a:t>Ngulahan, Tambakboyo</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1 inci</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DN25</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1½ inci</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400" dirty="0">
                          <a:solidFill>
                            <a:srgbClr val="14211E"/>
                          </a:solidFill>
                        </a:rPr>
                        <a:t>DN40</a:t>
                      </a:r>
                      <a:endParaRPr lang="en-US" sz="14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r>
            </a:tbl>
          </a:graphicData>
        </a:graphic>
      </p:graphicFrame>
      <p:sp>
        <p:nvSpPr>
          <p:cNvPr id="5" name="Text 2"/>
          <p:cNvSpPr txBox="1"/>
          <p:nvPr/>
        </p:nvSpPr>
        <p:spPr>
          <a:xfrm>
            <a:off x="548640" y="5120640"/>
            <a:ext cx="11064240" cy="914400"/>
          </a:xfrm>
          <a:prstGeom prst="rect">
            <a:avLst/>
          </a:prstGeom>
          <a:noFill/>
          <a:ln/>
        </p:spPr>
        <p:txBody>
          <a:bodyPr wrap="square" lIns="0" tIns="0" rIns="0" bIns="0" rtlCol="0" anchor="t"/>
          <a:lstStyle/>
          <a:p>
            <a:pPr indent="0" marL="0">
              <a:spcAft>
                <a:spcPts val="1000"/>
              </a:spcAft>
              <a:buNone/>
            </a:pPr>
            <a:r>
              <a:rPr lang="en-US" sz="1300" dirty="0">
                <a:solidFill>
                  <a:srgbClr val="4A5568"/>
                </a:solidFill>
              </a:rPr>
              <a:t>Semua lokasi: sumur bor bantuan Rotary, pompa dan listrik PLN di rumah pompa, sinyal seluler IM3. Ukuran meter mengikuti pipa; meter yang kebesaran tidak membaca aliran kecil malam hari.</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USULAN</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Tiga titik ukur per toren yang menutup neraca air harian di tiap desa</a:t>
            </a:r>
            <a:endParaRPr lang="en-US" sz="2800" dirty="0"/>
          </a:p>
        </p:txBody>
      </p:sp>
      <p:sp>
        <p:nvSpPr>
          <p:cNvPr id="4" name="Shape 2"/>
          <p:cNvSpPr/>
          <p:nvPr/>
        </p:nvSpPr>
        <p:spPr>
          <a:xfrm>
            <a:off x="548640" y="2103120"/>
            <a:ext cx="3566160" cy="2103120"/>
          </a:xfrm>
          <a:prstGeom prst="roundRect">
            <a:avLst>
              <a:gd name="adj" fmla="val 5217"/>
            </a:avLst>
          </a:prstGeom>
          <a:solidFill>
            <a:srgbClr val="0B3B33"/>
          </a:solidFill>
          <a:ln w="9525">
            <a:solidFill>
              <a:srgbClr val="0B3B33"/>
            </a:solidFill>
            <a:prstDash val="solid"/>
          </a:ln>
        </p:spPr>
      </p:sp>
      <p:sp>
        <p:nvSpPr>
          <p:cNvPr id="5" name="Text 3"/>
          <p:cNvSpPr txBox="1"/>
          <p:nvPr/>
        </p:nvSpPr>
        <p:spPr>
          <a:xfrm>
            <a:off x="777240" y="2286000"/>
            <a:ext cx="3108960" cy="731520"/>
          </a:xfrm>
          <a:prstGeom prst="rect">
            <a:avLst/>
          </a:prstGeom>
          <a:noFill/>
          <a:ln/>
        </p:spPr>
        <p:txBody>
          <a:bodyPr wrap="square" lIns="0" tIns="0" rIns="0" bIns="0" rtlCol="0" anchor="ctr"/>
          <a:lstStyle/>
          <a:p>
            <a:pPr indent="0" marL="0">
              <a:buNone/>
            </a:pPr>
            <a:r>
              <a:rPr lang="en-US" sz="4000" b="1" dirty="0">
                <a:solidFill>
                  <a:srgbClr val="9FE1CB"/>
                </a:solidFill>
              </a:rPr>
              <a:t>Rp4,9 jt</a:t>
            </a:r>
            <a:endParaRPr lang="en-US" sz="4000" dirty="0"/>
          </a:p>
        </p:txBody>
      </p:sp>
      <p:sp>
        <p:nvSpPr>
          <p:cNvPr id="6" name="Text 4"/>
          <p:cNvSpPr txBox="1"/>
          <p:nvPr/>
        </p:nvSpPr>
        <p:spPr>
          <a:xfrm>
            <a:off x="777240" y="3063240"/>
            <a:ext cx="3108960" cy="960120"/>
          </a:xfrm>
          <a:prstGeom prst="rect">
            <a:avLst/>
          </a:prstGeom>
          <a:noFill/>
          <a:ln/>
        </p:spPr>
        <p:txBody>
          <a:bodyPr wrap="square" lIns="0" tIns="0" rIns="0" bIns="0" rtlCol="0" anchor="t"/>
          <a:lstStyle/>
          <a:p>
            <a:pPr indent="0" marL="0">
              <a:spcAft>
                <a:spcPts val="400"/>
              </a:spcAft>
              <a:buNone/>
            </a:pPr>
            <a:r>
              <a:rPr lang="en-US" sz="1400" dirty="0">
                <a:solidFill>
                  <a:srgbClr val="FFFFFF"/>
                </a:solidFill>
              </a:rPr>
              <a:t>biaya satu lokasi lengkap; lima lokasi plus perjalanan sekitar Rp28 juta</a:t>
            </a:r>
            <a:endParaRPr lang="en-US" sz="1400" dirty="0"/>
          </a:p>
        </p:txBody>
      </p:sp>
      <p:sp>
        <p:nvSpPr>
          <p:cNvPr id="7" name="Shape 5"/>
          <p:cNvSpPr/>
          <p:nvPr/>
        </p:nvSpPr>
        <p:spPr>
          <a:xfrm>
            <a:off x="4297680" y="2103120"/>
            <a:ext cx="3566160" cy="2103120"/>
          </a:xfrm>
          <a:prstGeom prst="roundRect">
            <a:avLst>
              <a:gd name="adj" fmla="val 5217"/>
            </a:avLst>
          </a:prstGeom>
          <a:solidFill>
            <a:srgbClr val="0B3B33"/>
          </a:solidFill>
          <a:ln w="9525">
            <a:solidFill>
              <a:srgbClr val="0B3B33"/>
            </a:solidFill>
            <a:prstDash val="solid"/>
          </a:ln>
        </p:spPr>
      </p:sp>
      <p:sp>
        <p:nvSpPr>
          <p:cNvPr id="8" name="Text 6"/>
          <p:cNvSpPr txBox="1"/>
          <p:nvPr/>
        </p:nvSpPr>
        <p:spPr>
          <a:xfrm>
            <a:off x="4526280" y="2286000"/>
            <a:ext cx="3108960" cy="731520"/>
          </a:xfrm>
          <a:prstGeom prst="rect">
            <a:avLst/>
          </a:prstGeom>
          <a:noFill/>
          <a:ln/>
        </p:spPr>
        <p:txBody>
          <a:bodyPr wrap="square" lIns="0" tIns="0" rIns="0" bIns="0" rtlCol="0" anchor="ctr"/>
          <a:lstStyle/>
          <a:p>
            <a:pPr indent="0" marL="0">
              <a:buNone/>
            </a:pPr>
            <a:r>
              <a:rPr lang="en-US" sz="4000" b="1" dirty="0">
                <a:solidFill>
                  <a:srgbClr val="9FE1CB"/>
                </a:solidFill>
              </a:rPr>
              <a:t>3 ukur</a:t>
            </a:r>
            <a:endParaRPr lang="en-US" sz="4000" dirty="0"/>
          </a:p>
        </p:txBody>
      </p:sp>
      <p:sp>
        <p:nvSpPr>
          <p:cNvPr id="9" name="Text 7"/>
          <p:cNvSpPr txBox="1"/>
          <p:nvPr/>
        </p:nvSpPr>
        <p:spPr>
          <a:xfrm>
            <a:off x="4526280" y="3063240"/>
            <a:ext cx="3108960" cy="960120"/>
          </a:xfrm>
          <a:prstGeom prst="rect">
            <a:avLst/>
          </a:prstGeom>
          <a:noFill/>
          <a:ln/>
        </p:spPr>
        <p:txBody>
          <a:bodyPr wrap="square" lIns="0" tIns="0" rIns="0" bIns="0" rtlCol="0" anchor="t"/>
          <a:lstStyle/>
          <a:p>
            <a:pPr indent="0" marL="0">
              <a:spcAft>
                <a:spcPts val="400"/>
              </a:spcAft>
              <a:buNone/>
            </a:pPr>
            <a:r>
              <a:rPr lang="en-US" sz="1400" dirty="0">
                <a:solidFill>
                  <a:srgbClr val="FFFFFF"/>
                </a:solidFill>
              </a:rPr>
              <a:t>meter masuk, meter keluar, sensor level; data tiap 15 menit</a:t>
            </a:r>
            <a:endParaRPr lang="en-US" sz="1400" dirty="0"/>
          </a:p>
        </p:txBody>
      </p:sp>
      <p:sp>
        <p:nvSpPr>
          <p:cNvPr id="10" name="Shape 8"/>
          <p:cNvSpPr/>
          <p:nvPr/>
        </p:nvSpPr>
        <p:spPr>
          <a:xfrm>
            <a:off x="8046720" y="2103120"/>
            <a:ext cx="3566160" cy="2103120"/>
          </a:xfrm>
          <a:prstGeom prst="roundRect">
            <a:avLst>
              <a:gd name="adj" fmla="val 5217"/>
            </a:avLst>
          </a:prstGeom>
          <a:solidFill>
            <a:srgbClr val="0B3B33"/>
          </a:solidFill>
          <a:ln w="9525">
            <a:solidFill>
              <a:srgbClr val="0B3B33"/>
            </a:solidFill>
            <a:prstDash val="solid"/>
          </a:ln>
        </p:spPr>
      </p:sp>
      <p:sp>
        <p:nvSpPr>
          <p:cNvPr id="11" name="Text 9"/>
          <p:cNvSpPr txBox="1"/>
          <p:nvPr/>
        </p:nvSpPr>
        <p:spPr>
          <a:xfrm>
            <a:off x="8275320" y="2286000"/>
            <a:ext cx="3108960" cy="731520"/>
          </a:xfrm>
          <a:prstGeom prst="rect">
            <a:avLst/>
          </a:prstGeom>
          <a:noFill/>
          <a:ln/>
        </p:spPr>
        <p:txBody>
          <a:bodyPr wrap="square" lIns="0" tIns="0" rIns="0" bIns="0" rtlCol="0" anchor="ctr"/>
          <a:lstStyle/>
          <a:p>
            <a:pPr indent="0" marL="0">
              <a:buNone/>
            </a:pPr>
            <a:r>
              <a:rPr lang="en-US" sz="4000" b="1" dirty="0">
                <a:solidFill>
                  <a:srgbClr val="9FE1CB"/>
                </a:solidFill>
              </a:rPr>
              <a:t>12 mgg</a:t>
            </a:r>
            <a:endParaRPr lang="en-US" sz="4000" dirty="0"/>
          </a:p>
        </p:txBody>
      </p:sp>
      <p:sp>
        <p:nvSpPr>
          <p:cNvPr id="12" name="Text 10"/>
          <p:cNvSpPr txBox="1"/>
          <p:nvPr/>
        </p:nvSpPr>
        <p:spPr>
          <a:xfrm>
            <a:off x="8275320" y="3063240"/>
            <a:ext cx="3108960" cy="960120"/>
          </a:xfrm>
          <a:prstGeom prst="rect">
            <a:avLst/>
          </a:prstGeom>
          <a:noFill/>
          <a:ln/>
        </p:spPr>
        <p:txBody>
          <a:bodyPr wrap="square" lIns="0" tIns="0" rIns="0" bIns="0" rtlCol="0" anchor="t"/>
          <a:lstStyle/>
          <a:p>
            <a:pPr indent="0" marL="0">
              <a:spcAft>
                <a:spcPts val="400"/>
              </a:spcAft>
              <a:buNone/>
            </a:pPr>
            <a:r>
              <a:rPr lang="en-US" sz="1400" dirty="0">
                <a:solidFill>
                  <a:srgbClr val="FFFFFF"/>
                </a:solidFill>
              </a:rPr>
              <a:t>dari survei sampai pelatihan pengelola lima desa</a:t>
            </a:r>
            <a:endParaRPr lang="en-US" sz="1400" dirty="0"/>
          </a:p>
        </p:txBody>
      </p:sp>
      <p:sp>
        <p:nvSpPr>
          <p:cNvPr id="13" name="Text 11"/>
          <p:cNvSpPr txBox="1"/>
          <p:nvPr/>
        </p:nvSpPr>
        <p:spPr>
          <a:xfrm>
            <a:off x="548640" y="4572000"/>
            <a:ext cx="11064240" cy="1463040"/>
          </a:xfrm>
          <a:prstGeom prst="rect">
            <a:avLst/>
          </a:prstGeom>
          <a:noFill/>
          <a:ln/>
        </p:spPr>
        <p:txBody>
          <a:bodyPr wrap="square" lIns="0" tIns="0" rIns="0" bIns="0" rtlCol="0" anchor="t"/>
          <a:lstStyle/>
          <a:p>
            <a:pPr indent="0" marL="0">
              <a:spcAft>
                <a:spcPts val="1000"/>
              </a:spcAft>
              <a:buNone/>
            </a:pPr>
            <a:r>
              <a:rPr lang="en-US" sz="1500" dirty="0">
                <a:solidFill>
                  <a:srgbClr val="4A5568"/>
                </a:solidFill>
              </a:rPr>
              <a:t>Dua water meter bermodul pulsa, sensor level tekanan, node ESP32 dengan 4G IM3, listrik PLN rumah pompa dengan aki cadangan. Pengelola melihat air masuk, air keluar, isi toren, jam pompa, dan selisih neraca tanpa datang ke rumah pompa.</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TUJUAN DAN MANFAAT</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Empat sasaran yang diserahkan ke pengelola air desa</a:t>
            </a:r>
            <a:endParaRPr lang="en-US" sz="2800" dirty="0"/>
          </a:p>
        </p:txBody>
      </p:sp>
      <p:sp>
        <p:nvSpPr>
          <p:cNvPr id="4" name="Shape 2"/>
          <p:cNvSpPr/>
          <p:nvPr/>
        </p:nvSpPr>
        <p:spPr>
          <a:xfrm>
            <a:off x="548640" y="2011680"/>
            <a:ext cx="5394960" cy="1143000"/>
          </a:xfrm>
          <a:prstGeom prst="roundRect">
            <a:avLst>
              <a:gd name="adj" fmla="val 9600"/>
            </a:avLst>
          </a:prstGeom>
          <a:solidFill>
            <a:srgbClr val="FFFFFF"/>
          </a:solidFill>
          <a:ln w="9525">
            <a:solidFill>
              <a:srgbClr val="D9D6CC"/>
            </a:solidFill>
            <a:prstDash val="solid"/>
          </a:ln>
        </p:spPr>
      </p:sp>
      <p:sp>
        <p:nvSpPr>
          <p:cNvPr id="5" name="Text 3"/>
          <p:cNvSpPr txBox="1"/>
          <p:nvPr/>
        </p:nvSpPr>
        <p:spPr>
          <a:xfrm>
            <a:off x="731520" y="2148840"/>
            <a:ext cx="548640" cy="822960"/>
          </a:xfrm>
          <a:prstGeom prst="rect">
            <a:avLst/>
          </a:prstGeom>
          <a:noFill/>
          <a:ln/>
        </p:spPr>
        <p:txBody>
          <a:bodyPr wrap="square" lIns="0" tIns="0" rIns="0" bIns="0" rtlCol="0" anchor="ctr"/>
          <a:lstStyle/>
          <a:p>
            <a:pPr indent="0" marL="0">
              <a:buNone/>
            </a:pPr>
            <a:r>
              <a:rPr lang="en-US" sz="3200" b="1" dirty="0">
                <a:solidFill>
                  <a:srgbClr val="1D9E75"/>
                </a:solidFill>
              </a:rPr>
              <a:t>1</a:t>
            </a:r>
            <a:endParaRPr lang="en-US" sz="3200" dirty="0"/>
          </a:p>
        </p:txBody>
      </p:sp>
      <p:sp>
        <p:nvSpPr>
          <p:cNvPr id="6" name="Text 4"/>
          <p:cNvSpPr txBox="1"/>
          <p:nvPr/>
        </p:nvSpPr>
        <p:spPr>
          <a:xfrm>
            <a:off x="1371600" y="2148840"/>
            <a:ext cx="4389120" cy="868680"/>
          </a:xfrm>
          <a:prstGeom prst="rect">
            <a:avLst/>
          </a:prstGeom>
          <a:noFill/>
          <a:ln/>
        </p:spPr>
        <p:txBody>
          <a:bodyPr wrap="square" lIns="0" tIns="0" rIns="0" bIns="0" rtlCol="0" anchor="ctr"/>
          <a:lstStyle/>
          <a:p>
            <a:pPr indent="0" marL="0">
              <a:buNone/>
            </a:pPr>
            <a:r>
              <a:rPr lang="en-US" sz="1300" dirty="0">
                <a:solidFill>
                  <a:srgbClr val="14211E"/>
                </a:solidFill>
              </a:rPr>
              <a:t>Catatan harian air masuk, air keluar, dan isi toren di tiap desa dengan ketelitian 10 liter.</a:t>
            </a:r>
            <a:endParaRPr lang="en-US" sz="1300" dirty="0"/>
          </a:p>
        </p:txBody>
      </p:sp>
      <p:sp>
        <p:nvSpPr>
          <p:cNvPr id="7" name="Shape 5"/>
          <p:cNvSpPr/>
          <p:nvPr/>
        </p:nvSpPr>
        <p:spPr>
          <a:xfrm>
            <a:off x="6217920" y="2011680"/>
            <a:ext cx="5394960" cy="1143000"/>
          </a:xfrm>
          <a:prstGeom prst="roundRect">
            <a:avLst>
              <a:gd name="adj" fmla="val 9600"/>
            </a:avLst>
          </a:prstGeom>
          <a:solidFill>
            <a:srgbClr val="FFFFFF"/>
          </a:solidFill>
          <a:ln w="9525">
            <a:solidFill>
              <a:srgbClr val="D9D6CC"/>
            </a:solidFill>
            <a:prstDash val="solid"/>
          </a:ln>
        </p:spPr>
      </p:sp>
      <p:sp>
        <p:nvSpPr>
          <p:cNvPr id="8" name="Text 6"/>
          <p:cNvSpPr txBox="1"/>
          <p:nvPr/>
        </p:nvSpPr>
        <p:spPr>
          <a:xfrm>
            <a:off x="6400800" y="2148840"/>
            <a:ext cx="548640" cy="822960"/>
          </a:xfrm>
          <a:prstGeom prst="rect">
            <a:avLst/>
          </a:prstGeom>
          <a:noFill/>
          <a:ln/>
        </p:spPr>
        <p:txBody>
          <a:bodyPr wrap="square" lIns="0" tIns="0" rIns="0" bIns="0" rtlCol="0" anchor="ctr"/>
          <a:lstStyle/>
          <a:p>
            <a:pPr indent="0" marL="0">
              <a:buNone/>
            </a:pPr>
            <a:r>
              <a:rPr lang="en-US" sz="3200" b="1" dirty="0">
                <a:solidFill>
                  <a:srgbClr val="1D9E75"/>
                </a:solidFill>
              </a:rPr>
              <a:t>2</a:t>
            </a:r>
            <a:endParaRPr lang="en-US" sz="3200" dirty="0"/>
          </a:p>
        </p:txBody>
      </p:sp>
      <p:sp>
        <p:nvSpPr>
          <p:cNvPr id="9" name="Text 7"/>
          <p:cNvSpPr txBox="1"/>
          <p:nvPr/>
        </p:nvSpPr>
        <p:spPr>
          <a:xfrm>
            <a:off x="7040880" y="2148840"/>
            <a:ext cx="4389120" cy="868680"/>
          </a:xfrm>
          <a:prstGeom prst="rect">
            <a:avLst/>
          </a:prstGeom>
          <a:noFill/>
          <a:ln/>
        </p:spPr>
        <p:txBody>
          <a:bodyPr wrap="square" lIns="0" tIns="0" rIns="0" bIns="0" rtlCol="0" anchor="ctr"/>
          <a:lstStyle/>
          <a:p>
            <a:pPr indent="0" marL="0">
              <a:buNone/>
            </a:pPr>
            <a:r>
              <a:rPr lang="en-US" sz="1300" dirty="0">
                <a:solidFill>
                  <a:srgbClr val="14211E"/>
                </a:solidFill>
              </a:rPr>
              <a:t>Neraca air harian tiap toren terhitung otomatis; selisih di atas 4 persen dilaporkan.</a:t>
            </a:r>
            <a:endParaRPr lang="en-US" sz="1300" dirty="0"/>
          </a:p>
        </p:txBody>
      </p:sp>
      <p:sp>
        <p:nvSpPr>
          <p:cNvPr id="10" name="Shape 8"/>
          <p:cNvSpPr/>
          <p:nvPr/>
        </p:nvSpPr>
        <p:spPr>
          <a:xfrm>
            <a:off x="548640" y="3337560"/>
            <a:ext cx="5394960" cy="1143000"/>
          </a:xfrm>
          <a:prstGeom prst="roundRect">
            <a:avLst>
              <a:gd name="adj" fmla="val 9600"/>
            </a:avLst>
          </a:prstGeom>
          <a:solidFill>
            <a:srgbClr val="FFFFFF"/>
          </a:solidFill>
          <a:ln w="9525">
            <a:solidFill>
              <a:srgbClr val="D9D6CC"/>
            </a:solidFill>
            <a:prstDash val="solid"/>
          </a:ln>
        </p:spPr>
      </p:sp>
      <p:sp>
        <p:nvSpPr>
          <p:cNvPr id="11" name="Text 9"/>
          <p:cNvSpPr txBox="1"/>
          <p:nvPr/>
        </p:nvSpPr>
        <p:spPr>
          <a:xfrm>
            <a:off x="731520" y="3474720"/>
            <a:ext cx="548640" cy="822960"/>
          </a:xfrm>
          <a:prstGeom prst="rect">
            <a:avLst/>
          </a:prstGeom>
          <a:noFill/>
          <a:ln/>
        </p:spPr>
        <p:txBody>
          <a:bodyPr wrap="square" lIns="0" tIns="0" rIns="0" bIns="0" rtlCol="0" anchor="ctr"/>
          <a:lstStyle/>
          <a:p>
            <a:pPr indent="0" marL="0">
              <a:buNone/>
            </a:pPr>
            <a:r>
              <a:rPr lang="en-US" sz="3200" b="1" dirty="0">
                <a:solidFill>
                  <a:srgbClr val="1D9E75"/>
                </a:solidFill>
              </a:rPr>
              <a:t>3</a:t>
            </a:r>
            <a:endParaRPr lang="en-US" sz="3200" dirty="0"/>
          </a:p>
        </p:txBody>
      </p:sp>
      <p:sp>
        <p:nvSpPr>
          <p:cNvPr id="12" name="Text 10"/>
          <p:cNvSpPr txBox="1"/>
          <p:nvPr/>
        </p:nvSpPr>
        <p:spPr>
          <a:xfrm>
            <a:off x="1371600" y="3474720"/>
            <a:ext cx="4389120" cy="868680"/>
          </a:xfrm>
          <a:prstGeom prst="rect">
            <a:avLst/>
          </a:prstGeom>
          <a:noFill/>
          <a:ln/>
        </p:spPr>
        <p:txBody>
          <a:bodyPr wrap="square" lIns="0" tIns="0" rIns="0" bIns="0" rtlCol="0" anchor="ctr"/>
          <a:lstStyle/>
          <a:p>
            <a:pPr indent="0" marL="0">
              <a:buNone/>
            </a:pPr>
            <a:r>
              <a:rPr lang="en-US" sz="1300" dirty="0">
                <a:solidFill>
                  <a:srgbClr val="14211E"/>
                </a:solidFill>
              </a:rPr>
              <a:t>Peringatan Telegram saat ada aliran malam, toren bocor, luber, pompa tanpa hasil, atau aliran berhenti.</a:t>
            </a:r>
            <a:endParaRPr lang="en-US" sz="1300" dirty="0"/>
          </a:p>
        </p:txBody>
      </p:sp>
      <p:sp>
        <p:nvSpPr>
          <p:cNvPr id="13" name="Shape 11"/>
          <p:cNvSpPr/>
          <p:nvPr/>
        </p:nvSpPr>
        <p:spPr>
          <a:xfrm>
            <a:off x="6217920" y="3337560"/>
            <a:ext cx="5394960" cy="1143000"/>
          </a:xfrm>
          <a:prstGeom prst="roundRect">
            <a:avLst>
              <a:gd name="adj" fmla="val 9600"/>
            </a:avLst>
          </a:prstGeom>
          <a:solidFill>
            <a:srgbClr val="FFFFFF"/>
          </a:solidFill>
          <a:ln w="9525">
            <a:solidFill>
              <a:srgbClr val="D9D6CC"/>
            </a:solidFill>
            <a:prstDash val="solid"/>
          </a:ln>
        </p:spPr>
      </p:sp>
      <p:sp>
        <p:nvSpPr>
          <p:cNvPr id="14" name="Text 12"/>
          <p:cNvSpPr txBox="1"/>
          <p:nvPr/>
        </p:nvSpPr>
        <p:spPr>
          <a:xfrm>
            <a:off x="6400800" y="3474720"/>
            <a:ext cx="548640" cy="822960"/>
          </a:xfrm>
          <a:prstGeom prst="rect">
            <a:avLst/>
          </a:prstGeom>
          <a:noFill/>
          <a:ln/>
        </p:spPr>
        <p:txBody>
          <a:bodyPr wrap="square" lIns="0" tIns="0" rIns="0" bIns="0" rtlCol="0" anchor="ctr"/>
          <a:lstStyle/>
          <a:p>
            <a:pPr indent="0" marL="0">
              <a:buNone/>
            </a:pPr>
            <a:r>
              <a:rPr lang="en-US" sz="3200" b="1" dirty="0">
                <a:solidFill>
                  <a:srgbClr val="1D9E75"/>
                </a:solidFill>
              </a:rPr>
              <a:t>4</a:t>
            </a:r>
            <a:endParaRPr lang="en-US" sz="3200" dirty="0"/>
          </a:p>
        </p:txBody>
      </p:sp>
      <p:sp>
        <p:nvSpPr>
          <p:cNvPr id="15" name="Text 13"/>
          <p:cNvSpPr txBox="1"/>
          <p:nvPr/>
        </p:nvSpPr>
        <p:spPr>
          <a:xfrm>
            <a:off x="7040880" y="3474720"/>
            <a:ext cx="4389120" cy="868680"/>
          </a:xfrm>
          <a:prstGeom prst="rect">
            <a:avLst/>
          </a:prstGeom>
          <a:noFill/>
          <a:ln/>
        </p:spPr>
        <p:txBody>
          <a:bodyPr wrap="square" lIns="0" tIns="0" rIns="0" bIns="0" rtlCol="0" anchor="ctr"/>
          <a:lstStyle/>
          <a:p>
            <a:pPr indent="0" marL="0">
              <a:buNone/>
            </a:pPr>
            <a:r>
              <a:rPr lang="en-US" sz="1300" dirty="0">
                <a:solidFill>
                  <a:srgbClr val="14211E"/>
                </a:solidFill>
              </a:rPr>
              <a:t>Sepuluh pengelola (dua per desa) terlatih membaca dashboard dan merawat alat.</a:t>
            </a:r>
            <a:endParaRPr lang="en-US" sz="1300" dirty="0"/>
          </a:p>
        </p:txBody>
      </p:sp>
      <p:sp>
        <p:nvSpPr>
          <p:cNvPr id="16" name="Text 14"/>
          <p:cNvSpPr txBox="1"/>
          <p:nvPr/>
        </p:nvSpPr>
        <p:spPr>
          <a:xfrm>
            <a:off x="548640" y="4846320"/>
            <a:ext cx="3566160" cy="1280160"/>
          </a:xfrm>
          <a:prstGeom prst="rect">
            <a:avLst/>
          </a:prstGeom>
          <a:noFill/>
          <a:ln/>
        </p:spPr>
        <p:txBody>
          <a:bodyPr wrap="square" lIns="0" tIns="0" rIns="0" bIns="0" rtlCol="0" anchor="t"/>
          <a:lstStyle/>
          <a:p>
            <a:pPr indent="0" marL="0">
              <a:buNone/>
            </a:pPr>
            <a:r>
              <a:rPr lang="en-US" sz="1200" b="1" dirty="0">
                <a:solidFill>
                  <a:srgbClr val="4A5568"/>
                </a:solidFill>
              </a:rPr>
              <a:t>Pengelola:</a:t>
            </a:r>
            <a:pPr indent="0" marL="0">
              <a:buNone/>
            </a:pPr>
            <a:r>
              <a:rPr lang="en-US" sz="1200" dirty="0">
                <a:solidFill>
                  <a:srgbClr val="4A5568"/>
                </a:solidFill>
              </a:rPr>
              <a:t> dasar iuran yang terukur, deteksi dini kebocoran dan luapan, data jam pompa untuk biaya listrik.</a:t>
            </a:r>
            <a:endParaRPr lang="en-US" sz="1200" dirty="0"/>
          </a:p>
        </p:txBody>
      </p:sp>
      <p:sp>
        <p:nvSpPr>
          <p:cNvPr id="17" name="Text 15"/>
          <p:cNvSpPr txBox="1"/>
          <p:nvPr/>
        </p:nvSpPr>
        <p:spPr>
          <a:xfrm>
            <a:off x="4297680" y="4846320"/>
            <a:ext cx="3566160" cy="1280160"/>
          </a:xfrm>
          <a:prstGeom prst="rect">
            <a:avLst/>
          </a:prstGeom>
          <a:noFill/>
          <a:ln/>
        </p:spPr>
        <p:txBody>
          <a:bodyPr wrap="square" lIns="0" tIns="0" rIns="0" bIns="0" rtlCol="0" anchor="t"/>
          <a:lstStyle/>
          <a:p>
            <a:pPr indent="0" marL="0">
              <a:buNone/>
            </a:pPr>
            <a:r>
              <a:rPr lang="en-US" sz="1200" b="1" dirty="0">
                <a:solidFill>
                  <a:srgbClr val="4A5568"/>
                </a:solidFill>
              </a:rPr>
              <a:t>Warga:</a:t>
            </a:r>
            <a:pPr indent="0" marL="0">
              <a:buNone/>
            </a:pPr>
            <a:r>
              <a:rPr lang="en-US" sz="1200" dirty="0">
                <a:solidFill>
                  <a:srgbClr val="4A5568"/>
                </a:solidFill>
              </a:rPr>
              <a:t> pasokan lebih stabil karena gangguan cepat diketahui, iuran lebih adil.</a:t>
            </a:r>
            <a:endParaRPr lang="en-US" sz="1200" dirty="0"/>
          </a:p>
        </p:txBody>
      </p:sp>
      <p:sp>
        <p:nvSpPr>
          <p:cNvPr id="18" name="Text 16"/>
          <p:cNvSpPr txBox="1"/>
          <p:nvPr/>
        </p:nvSpPr>
        <p:spPr>
          <a:xfrm>
            <a:off x="8046720" y="4846320"/>
            <a:ext cx="3566160" cy="1280160"/>
          </a:xfrm>
          <a:prstGeom prst="rect">
            <a:avLst/>
          </a:prstGeom>
          <a:noFill/>
          <a:ln/>
        </p:spPr>
        <p:txBody>
          <a:bodyPr wrap="square" lIns="0" tIns="0" rIns="0" bIns="0" rtlCol="0" anchor="t"/>
          <a:lstStyle/>
          <a:p>
            <a:pPr indent="0" marL="0">
              <a:buNone/>
            </a:pPr>
            <a:r>
              <a:rPr lang="en-US" sz="1200" b="1" dirty="0">
                <a:solidFill>
                  <a:srgbClr val="4A5568"/>
                </a:solidFill>
              </a:rPr>
              <a:t>Kampus:</a:t>
            </a:r>
            <a:pPr indent="0" marL="0">
              <a:buNone/>
            </a:pPr>
            <a:r>
              <a:rPr lang="en-US" sz="1200" dirty="0">
                <a:solidFill>
                  <a:srgbClr val="4A5568"/>
                </a:solidFill>
              </a:rPr>
              <a:t> lima lokasi riset dan tugas akhir mahasiswa, model yang bisa direplikasi.</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NERACA AIR</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Tiga titik ukur menutup persamaan: masuk dikurangi keluar sama dengan perubahan isi toren</a:t>
            </a:r>
            <a:endParaRPr lang="en-US" sz="2800" dirty="0"/>
          </a:p>
        </p:txBody>
      </p:sp>
      <p:sp>
        <p:nvSpPr>
          <p:cNvPr id="4" name="Text 2"/>
          <p:cNvSpPr txBox="1"/>
          <p:nvPr/>
        </p:nvSpPr>
        <p:spPr>
          <a:xfrm>
            <a:off x="548640" y="2011680"/>
            <a:ext cx="4754880" cy="4206240"/>
          </a:xfrm>
          <a:prstGeom prst="rect">
            <a:avLst/>
          </a:prstGeom>
          <a:noFill/>
          <a:ln/>
        </p:spPr>
        <p:txBody>
          <a:bodyPr wrap="square" lIns="0" tIns="0" rIns="0" bIns="0" rtlCol="0" anchor="t"/>
          <a:lstStyle/>
          <a:p>
            <a:pPr indent="0" marL="0">
              <a:spcAft>
                <a:spcPts val="1000"/>
              </a:spcAft>
              <a:buNone/>
            </a:pPr>
            <a:r>
              <a:rPr lang="en-US" sz="1400" dirty="0">
                <a:solidFill>
                  <a:srgbClr val="4A5568"/>
                </a:solidFill>
              </a:rPr>
              <a:t>Dengan dua titik saja persamaannya tidak tertutup. Level dan meter keluar menyembunyikan kebocoran toren; meter masuk dan keluar tidak membedakan air hilang dengan air tersimpan.</a:t>
            </a:r>
            <a:endParaRPr lang="en-US" sz="1400" dirty="0"/>
          </a:p>
          <a:p>
            <a:pPr indent="0" marL="0">
              <a:spcAft>
                <a:spcPts val="1000"/>
              </a:spcAft>
              <a:buNone/>
            </a:pPr>
            <a:r>
              <a:rPr lang="en-US" sz="1400" dirty="0">
                <a:solidFill>
                  <a:srgbClr val="4A5568"/>
                </a:solidFill>
              </a:rPr>
              <a:t>Toren 2.000 L diisi ulang beberapa kali sehari, jadi tiap siklus pengisian adalah satu uji: air yang dipompa harus sama dengan kenaikan isi toren dalam 3 sampai 4 persen.</a:t>
            </a:r>
            <a:endParaRPr lang="en-US" sz="1400" dirty="0"/>
          </a:p>
          <a:p>
            <a:pPr indent="0" marL="0">
              <a:spcAft>
                <a:spcPts val="1000"/>
              </a:spcAft>
              <a:buNone/>
            </a:pPr>
            <a:r>
              <a:rPr lang="en-US" sz="1400" dirty="0">
                <a:solidFill>
                  <a:srgbClr val="4A5568"/>
                </a:solidFill>
              </a:rPr>
              <a:t>Selisih yang menetap berarti toren bocor, luber karena pelampung rusak, atau salah satu meteran perlu dikalibrasi.</a:t>
            </a:r>
            <a:endParaRPr lang="en-US" sz="1400" dirty="0"/>
          </a:p>
        </p:txBody>
      </p:sp>
      <p:sp>
        <p:nvSpPr>
          <p:cNvPr id="5" name="Shape 3"/>
          <p:cNvSpPr/>
          <p:nvPr/>
        </p:nvSpPr>
        <p:spPr>
          <a:xfrm>
            <a:off x="5577840" y="2156088"/>
            <a:ext cx="6126480" cy="3734543"/>
          </a:xfrm>
          <a:prstGeom prst="roundRect">
            <a:avLst>
              <a:gd name="adj" fmla="val 2448"/>
            </a:avLst>
          </a:prstGeom>
          <a:solidFill>
            <a:srgbClr val="FFFFFF"/>
          </a:solidFill>
          <a:ln w="9525">
            <a:solidFill>
              <a:srgbClr val="D9D6CC"/>
            </a:solidFill>
            <a:prstDash val="solid"/>
          </a:ln>
        </p:spPr>
      </p:sp>
      <p:pic>
        <p:nvPicPr>
          <p:cNvPr id="6" name="Image 0" descr="preencoded.png">    </p:cNvPr>
          <p:cNvPicPr>
            <a:picLocks noChangeAspect="1"/>
          </p:cNvPicPr>
          <p:nvPr/>
        </p:nvPicPr>
        <p:blipFill>
          <a:blip r:embed="rId1"/>
          <a:stretch>
            <a:fillRect/>
          </a:stretch>
        </p:blipFill>
        <p:spPr>
          <a:xfrm>
            <a:off x="5669280" y="2247528"/>
            <a:ext cx="5943600" cy="3551663"/>
          </a:xfrm>
          <a:prstGeom prst="rect">
            <a:avLst/>
          </a:prstGeom>
        </p:spPr>
      </p:pic>
      <p:sp>
        <p:nvSpPr>
          <p:cNvPr id="7"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4A5568"/>
                </a:solidFill>
              </a:rPr>
              <a:t>Gambar 1. Neraca air toren</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CARA KERJA</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Data mengalir lewat empat lapisan, dari rumah pompa tiap desa sampai ponsel pengelola</a:t>
            </a:r>
            <a:endParaRPr lang="en-US" sz="2800" dirty="0"/>
          </a:p>
        </p:txBody>
      </p:sp>
      <p:sp>
        <p:nvSpPr>
          <p:cNvPr id="4" name="Text 2"/>
          <p:cNvSpPr txBox="1"/>
          <p:nvPr/>
        </p:nvSpPr>
        <p:spPr>
          <a:xfrm>
            <a:off x="548640" y="1920240"/>
            <a:ext cx="4937760" cy="4389120"/>
          </a:xfrm>
          <a:prstGeom prst="rect">
            <a:avLst/>
          </a:prstGeom>
          <a:noFill/>
          <a:ln/>
        </p:spPr>
        <p:txBody>
          <a:bodyPr wrap="square" lIns="0" tIns="0" rIns="0" bIns="0" rtlCol="0" anchor="t"/>
          <a:lstStyle/>
          <a:p>
            <a:pPr indent="0" marL="0">
              <a:spcAft>
                <a:spcPts val="1000"/>
              </a:spcAft>
              <a:buNone/>
            </a:pPr>
            <a:r>
              <a:rPr lang="en-US" sz="1400" dirty="0">
                <a:solidFill>
                  <a:srgbClr val="4A5568"/>
                </a:solidFill>
              </a:rPr>
              <a:t>Perangkat. Dua water meter bermodul pulsa dan sensor level toren masuk ke satu ESP32 di rumah pompa, listrik PLN.</a:t>
            </a:r>
            <a:endParaRPr lang="en-US" sz="1400" dirty="0"/>
          </a:p>
          <a:p>
            <a:pPr indent="0" marL="0">
              <a:spcAft>
                <a:spcPts val="1000"/>
              </a:spcAft>
              <a:buNone/>
            </a:pPr>
            <a:r>
              <a:rPr lang="en-US" sz="1400" dirty="0">
                <a:solidFill>
                  <a:srgbClr val="4A5568"/>
                </a:solidFill>
              </a:rPr>
              <a:t>Jaringan. 4G LTE dengan kartu IM3; jaringan 2G Indosat sudah ditinggalkan, dan 4G mendukung TLS.</a:t>
            </a:r>
            <a:endParaRPr lang="en-US" sz="1400" dirty="0"/>
          </a:p>
          <a:p>
            <a:pPr indent="0" marL="0">
              <a:spcAft>
                <a:spcPts val="1000"/>
              </a:spcAft>
              <a:buNone/>
            </a:pPr>
            <a:r>
              <a:rPr lang="en-US" sz="1400" dirty="0">
                <a:solidFill>
                  <a:srgbClr val="4A5568"/>
                </a:solidFill>
              </a:rPr>
              <a:t>Server. Broker MQTT menerima data, backend menghitung neraca air dan sepuluh alarm, database menyimpan lima node.</a:t>
            </a:r>
            <a:endParaRPr lang="en-US" sz="1400" dirty="0"/>
          </a:p>
          <a:p>
            <a:pPr indent="0" marL="0">
              <a:spcAft>
                <a:spcPts val="1000"/>
              </a:spcAft>
              <a:buNone/>
            </a:pPr>
            <a:r>
              <a:rPr lang="en-US" sz="1400" dirty="0">
                <a:solidFill>
                  <a:srgbClr val="4A5568"/>
                </a:solidFill>
              </a:rPr>
              <a:t>Pengguna. Dashboard per toren, ringkasan harian di ponsel, notifikasi ke grup Telegram lima desa.</a:t>
            </a:r>
            <a:endParaRPr lang="en-US" sz="1400" dirty="0"/>
          </a:p>
        </p:txBody>
      </p:sp>
      <p:sp>
        <p:nvSpPr>
          <p:cNvPr id="5" name="Shape 3"/>
          <p:cNvSpPr/>
          <p:nvPr/>
        </p:nvSpPr>
        <p:spPr>
          <a:xfrm>
            <a:off x="6461406" y="1737360"/>
            <a:ext cx="4542229" cy="4754880"/>
          </a:xfrm>
          <a:prstGeom prst="roundRect">
            <a:avLst>
              <a:gd name="adj" fmla="val 2013"/>
            </a:avLst>
          </a:prstGeom>
          <a:solidFill>
            <a:srgbClr val="FFFFFF"/>
          </a:solidFill>
          <a:ln w="9525">
            <a:solidFill>
              <a:srgbClr val="D9D6CC"/>
            </a:solidFill>
            <a:prstDash val="solid"/>
          </a:ln>
        </p:spPr>
      </p:sp>
      <p:pic>
        <p:nvPicPr>
          <p:cNvPr id="6" name="Image 0" descr="preencoded.png">    </p:cNvPr>
          <p:cNvPicPr>
            <a:picLocks noChangeAspect="1"/>
          </p:cNvPicPr>
          <p:nvPr/>
        </p:nvPicPr>
        <p:blipFill>
          <a:blip r:embed="rId1"/>
          <a:stretch>
            <a:fillRect/>
          </a:stretch>
        </p:blipFill>
        <p:spPr>
          <a:xfrm>
            <a:off x="6552846" y="1828800"/>
            <a:ext cx="4359349" cy="4572000"/>
          </a:xfrm>
          <a:prstGeom prst="rect">
            <a:avLst/>
          </a:prstGeom>
        </p:spPr>
      </p:pic>
      <p:sp>
        <p:nvSpPr>
          <p:cNvPr id="7"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4A5568"/>
                </a:solidFill>
              </a:rPr>
              <a:t>Gambar 2. Arsitektur sistem</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BLOK DIAGRAM</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Dua meter, satu sensor level, satu ESP32, listrik dari rumah pompa</a:t>
            </a:r>
            <a:endParaRPr lang="en-US" sz="2800" dirty="0"/>
          </a:p>
        </p:txBody>
      </p:sp>
      <p:sp>
        <p:nvSpPr>
          <p:cNvPr id="4" name="Shape 2"/>
          <p:cNvSpPr/>
          <p:nvPr/>
        </p:nvSpPr>
        <p:spPr>
          <a:xfrm>
            <a:off x="1083688" y="1737360"/>
            <a:ext cx="5147825" cy="4663440"/>
          </a:xfrm>
          <a:prstGeom prst="roundRect">
            <a:avLst>
              <a:gd name="adj" fmla="val 1961"/>
            </a:avLst>
          </a:prstGeom>
          <a:solidFill>
            <a:srgbClr val="FFFFFF"/>
          </a:solidFill>
          <a:ln w="9525">
            <a:solidFill>
              <a:srgbClr val="D9D6CC"/>
            </a:solidFill>
            <a:prstDash val="solid"/>
          </a:ln>
        </p:spPr>
      </p:sp>
      <p:pic>
        <p:nvPicPr>
          <p:cNvPr id="5" name="Image 0" descr="preencoded.png">    </p:cNvPr>
          <p:cNvPicPr>
            <a:picLocks noChangeAspect="1"/>
          </p:cNvPicPr>
          <p:nvPr/>
        </p:nvPicPr>
        <p:blipFill>
          <a:blip r:embed="rId1"/>
          <a:stretch>
            <a:fillRect/>
          </a:stretch>
        </p:blipFill>
        <p:spPr>
          <a:xfrm>
            <a:off x="1175128" y="1828800"/>
            <a:ext cx="4964945" cy="4480560"/>
          </a:xfrm>
          <a:prstGeom prst="rect">
            <a:avLst/>
          </a:prstGeom>
        </p:spPr>
      </p:pic>
      <p:sp>
        <p:nvSpPr>
          <p:cNvPr id="6" name="Text 3"/>
          <p:cNvSpPr txBox="1"/>
          <p:nvPr/>
        </p:nvSpPr>
        <p:spPr>
          <a:xfrm>
            <a:off x="7132320" y="1920240"/>
            <a:ext cx="4480560" cy="4389120"/>
          </a:xfrm>
          <a:prstGeom prst="rect">
            <a:avLst/>
          </a:prstGeom>
          <a:noFill/>
          <a:ln/>
        </p:spPr>
        <p:txBody>
          <a:bodyPr wrap="square" lIns="0" tIns="0" rIns="0" bIns="0" rtlCol="0" anchor="t"/>
          <a:lstStyle/>
          <a:p>
            <a:pPr indent="0" marL="0">
              <a:spcAft>
                <a:spcPts val="1000"/>
              </a:spcAft>
              <a:buNone/>
            </a:pPr>
            <a:r>
              <a:rPr lang="en-US" sz="1400" dirty="0">
                <a:solidFill>
                  <a:srgbClr val="4A5568"/>
                </a:solidFill>
              </a:rPr>
              <a:t>Pulsa reed dari meter masuk dan meter keluar dihitung lewat dua interrupt dengan debounce 20 ms, supaya tidak ada pulsa ganda.</a:t>
            </a:r>
            <a:endParaRPr lang="en-US" sz="1400" dirty="0"/>
          </a:p>
          <a:p>
            <a:pPr indent="0" marL="0">
              <a:spcAft>
                <a:spcPts val="1000"/>
              </a:spcAft>
              <a:buNone/>
            </a:pPr>
            <a:r>
              <a:rPr lang="en-US" sz="1400" dirty="0">
                <a:solidFill>
                  <a:srgbClr val="4A5568"/>
                </a:solidFill>
              </a:rPr>
              <a:t>Sensor level 4 sampai 20 mA dibaca lewat shunt 150 Ω; arus di bawah 4 mA berarti kabel putus dan langsung jadi alarm.</a:t>
            </a:r>
            <a:endParaRPr lang="en-US" sz="1400" dirty="0"/>
          </a:p>
          <a:p>
            <a:pPr indent="0" marL="0">
              <a:spcAft>
                <a:spcPts val="1000"/>
              </a:spcAft>
              <a:buNone/>
            </a:pPr>
            <a:r>
              <a:rPr lang="en-US" sz="1400" dirty="0">
                <a:solidFill>
                  <a:srgbClr val="4A5568"/>
                </a:solidFill>
              </a:rPr>
              <a:t>Adaptor 12 V dari PLN rumah pompa dengan aki 7 Ah cadangan; semua di box IP65 di dalam rumah pompa yang terkunci.</a:t>
            </a:r>
            <a:endParaRPr lang="en-US" sz="1400" dirty="0"/>
          </a:p>
        </p:txBody>
      </p:sp>
      <p:sp>
        <p:nvSpPr>
          <p:cNvPr id="7"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4A5568"/>
                </a:solidFill>
              </a:rPr>
              <a:t>Gambar 3. Blok diagram perangkat keras</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ALUR DI SISI PERANGKAT</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Hitung pulsa, kirim tiap 15 menit, simpan dulu bila sinyal hilang</a:t>
            </a:r>
            <a:endParaRPr lang="en-US" sz="2800" dirty="0"/>
          </a:p>
        </p:txBody>
      </p:sp>
      <p:sp>
        <p:nvSpPr>
          <p:cNvPr id="4" name="Text 2"/>
          <p:cNvSpPr txBox="1"/>
          <p:nvPr/>
        </p:nvSpPr>
        <p:spPr>
          <a:xfrm>
            <a:off x="548640" y="1920240"/>
            <a:ext cx="5852160" cy="4389120"/>
          </a:xfrm>
          <a:prstGeom prst="rect">
            <a:avLst/>
          </a:prstGeom>
          <a:noFill/>
          <a:ln/>
        </p:spPr>
        <p:txBody>
          <a:bodyPr wrap="square" lIns="0" tIns="0" rIns="0" bIns="0" rtlCol="0" anchor="t"/>
          <a:lstStyle/>
          <a:p>
            <a:pPr indent="0" marL="0">
              <a:spcAft>
                <a:spcPts val="1000"/>
              </a:spcAft>
              <a:buNone/>
            </a:pPr>
            <a:r>
              <a:rPr lang="en-US" sz="1400" dirty="0">
                <a:solidFill>
                  <a:srgbClr val="4A5568"/>
                </a:solidFill>
              </a:rPr>
              <a:t>Setiap paket berisi volume keluar, volume masuk, isi toren, status pompa, tegangan aki, dan kuat sinyal. Ukurannya sekitar 200 byte, kuota sebulan di bawah 1 MB.</a:t>
            </a:r>
            <a:endParaRPr lang="en-US" sz="1400" dirty="0"/>
          </a:p>
          <a:p>
            <a:pPr indent="0" marL="0">
              <a:spcAft>
                <a:spcPts val="1000"/>
              </a:spcAft>
              <a:buNone/>
            </a:pPr>
            <a:r>
              <a:rPr lang="en-US" sz="1400" dirty="0">
                <a:solidFill>
                  <a:srgbClr val="4A5568"/>
                </a:solidFill>
              </a:rPr>
              <a:t>Saat koneksi putus, data tetap tercatat di microSD dengan waktu dari RTC dan dikirim ulang saat sinyal kembali. Grafik di server tidak bolong.</a:t>
            </a:r>
            <a:endParaRPr lang="en-US" sz="1400" dirty="0"/>
          </a:p>
          <a:p>
            <a:pPr indent="0" marL="0">
              <a:spcAft>
                <a:spcPts val="1000"/>
              </a:spcAft>
              <a:buNone/>
            </a:pPr>
            <a:r>
              <a:rPr lang="en-US" sz="1400" dirty="0">
                <a:solidFill>
                  <a:srgbClr val="4A5568"/>
                </a:solidFill>
              </a:rPr>
              <a:t>Pompa dianggap hidup bila meter masuk mencatat aliran, jadi jam kerja pompa ikut tercatat tanpa sensor tambahan.</a:t>
            </a:r>
            <a:endParaRPr lang="en-US" sz="1400" dirty="0"/>
          </a:p>
        </p:txBody>
      </p:sp>
      <p:sp>
        <p:nvSpPr>
          <p:cNvPr id="5" name="Shape 3"/>
          <p:cNvSpPr/>
          <p:nvPr/>
        </p:nvSpPr>
        <p:spPr>
          <a:xfrm>
            <a:off x="7234693" y="1691640"/>
            <a:ext cx="3910054" cy="4754880"/>
          </a:xfrm>
          <a:prstGeom prst="roundRect">
            <a:avLst>
              <a:gd name="adj" fmla="val 2339"/>
            </a:avLst>
          </a:prstGeom>
          <a:solidFill>
            <a:srgbClr val="FFFFFF"/>
          </a:solidFill>
          <a:ln w="9525">
            <a:solidFill>
              <a:srgbClr val="D9D6CC"/>
            </a:solidFill>
            <a:prstDash val="solid"/>
          </a:ln>
        </p:spPr>
      </p:sp>
      <p:pic>
        <p:nvPicPr>
          <p:cNvPr id="6" name="Image 0" descr="preencoded.png">    </p:cNvPr>
          <p:cNvPicPr>
            <a:picLocks noChangeAspect="1"/>
          </p:cNvPicPr>
          <p:nvPr/>
        </p:nvPicPr>
        <p:blipFill>
          <a:blip r:embed="rId1"/>
          <a:stretch>
            <a:fillRect/>
          </a:stretch>
        </p:blipFill>
        <p:spPr>
          <a:xfrm>
            <a:off x="7326133" y="1783080"/>
            <a:ext cx="3727174" cy="4572000"/>
          </a:xfrm>
          <a:prstGeom prst="rect">
            <a:avLst/>
          </a:prstGeom>
        </p:spPr>
      </p:pic>
      <p:sp>
        <p:nvSpPr>
          <p:cNvPr id="7"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4A5568"/>
                </a:solidFill>
              </a:rPr>
              <a:t>Gambar 4. Flowchart node di rumah pompa</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ALUR DI SISI SERVER</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Neraca air harian dan alarm yang menyertainya</a:t>
            </a:r>
            <a:endParaRPr lang="en-US" sz="2800" dirty="0"/>
          </a:p>
        </p:txBody>
      </p:sp>
      <p:sp>
        <p:nvSpPr>
          <p:cNvPr id="4" name="Shape 2"/>
          <p:cNvSpPr/>
          <p:nvPr/>
        </p:nvSpPr>
        <p:spPr>
          <a:xfrm>
            <a:off x="457200" y="1826971"/>
            <a:ext cx="5303520" cy="4484218"/>
          </a:xfrm>
          <a:prstGeom prst="roundRect">
            <a:avLst>
              <a:gd name="adj" fmla="val 2039"/>
            </a:avLst>
          </a:prstGeom>
          <a:solidFill>
            <a:srgbClr val="FFFFFF"/>
          </a:solidFill>
          <a:ln w="9525">
            <a:solidFill>
              <a:srgbClr val="D9D6CC"/>
            </a:solidFill>
            <a:prstDash val="solid"/>
          </a:ln>
        </p:spPr>
      </p:sp>
      <p:pic>
        <p:nvPicPr>
          <p:cNvPr id="5" name="Image 0" descr="preencoded.png">    </p:cNvPr>
          <p:cNvPicPr>
            <a:picLocks noChangeAspect="1"/>
          </p:cNvPicPr>
          <p:nvPr/>
        </p:nvPicPr>
        <p:blipFill>
          <a:blip r:embed="rId1"/>
          <a:stretch>
            <a:fillRect/>
          </a:stretch>
        </p:blipFill>
        <p:spPr>
          <a:xfrm>
            <a:off x="548640" y="1918411"/>
            <a:ext cx="5120640" cy="4301338"/>
          </a:xfrm>
          <a:prstGeom prst="rect">
            <a:avLst/>
          </a:prstGeom>
        </p:spPr>
      </p:pic>
      <p:sp>
        <p:nvSpPr>
          <p:cNvPr id="6" name="Shape 3"/>
          <p:cNvSpPr/>
          <p:nvPr/>
        </p:nvSpPr>
        <p:spPr>
          <a:xfrm>
            <a:off x="6126480" y="1920240"/>
            <a:ext cx="5486400" cy="868680"/>
          </a:xfrm>
          <a:prstGeom prst="roundRect">
            <a:avLst>
              <a:gd name="adj" fmla="val 10526"/>
            </a:avLst>
          </a:prstGeom>
          <a:solidFill>
            <a:srgbClr val="FFFFFF"/>
          </a:solidFill>
          <a:ln w="9525">
            <a:solidFill>
              <a:srgbClr val="D9D6CC"/>
            </a:solidFill>
            <a:prstDash val="solid"/>
          </a:ln>
        </p:spPr>
      </p:sp>
      <p:sp>
        <p:nvSpPr>
          <p:cNvPr id="7" name="Text 4"/>
          <p:cNvSpPr txBox="1"/>
          <p:nvPr/>
        </p:nvSpPr>
        <p:spPr>
          <a:xfrm>
            <a:off x="6309360" y="2011680"/>
            <a:ext cx="5120640" cy="685800"/>
          </a:xfrm>
          <a:prstGeom prst="rect">
            <a:avLst/>
          </a:prstGeom>
          <a:noFill/>
          <a:ln/>
        </p:spPr>
        <p:txBody>
          <a:bodyPr wrap="square" lIns="0" tIns="0" rIns="0" bIns="0" rtlCol="0" anchor="ctr"/>
          <a:lstStyle/>
          <a:p>
            <a:pPr indent="0" marL="0">
              <a:buNone/>
            </a:pPr>
            <a:r>
              <a:rPr lang="en-US" sz="1300" b="1" dirty="0">
                <a:solidFill>
                  <a:srgbClr val="14211E"/>
                </a:solidFill>
              </a:rPr>
              <a:t>Neraca harian</a:t>
            </a:r>
            <a:pPr indent="0" marL="0">
              <a:buNone/>
            </a:pPr>
            <a:r>
              <a:rPr lang="en-US" sz="1300" dirty="0">
                <a:solidFill>
                  <a:srgbClr val="14211E"/>
                </a:solidFill>
              </a:rPr>
              <a:t> masuk − keluar − ΔV toren; selisih di atas 4 % berarti bocor, luber, atau meteran bermasalah.</a:t>
            </a:r>
            <a:endParaRPr lang="en-US" sz="1300" dirty="0"/>
          </a:p>
        </p:txBody>
      </p:sp>
      <p:sp>
        <p:nvSpPr>
          <p:cNvPr id="8" name="Shape 5"/>
          <p:cNvSpPr/>
          <p:nvPr/>
        </p:nvSpPr>
        <p:spPr>
          <a:xfrm>
            <a:off x="6126480" y="2926080"/>
            <a:ext cx="5486400" cy="868680"/>
          </a:xfrm>
          <a:prstGeom prst="roundRect">
            <a:avLst>
              <a:gd name="adj" fmla="val 10526"/>
            </a:avLst>
          </a:prstGeom>
          <a:solidFill>
            <a:srgbClr val="FFFFFF"/>
          </a:solidFill>
          <a:ln w="9525">
            <a:solidFill>
              <a:srgbClr val="D9D6CC"/>
            </a:solidFill>
            <a:prstDash val="solid"/>
          </a:ln>
        </p:spPr>
      </p:sp>
      <p:sp>
        <p:nvSpPr>
          <p:cNvPr id="9" name="Text 6"/>
          <p:cNvSpPr txBox="1"/>
          <p:nvPr/>
        </p:nvSpPr>
        <p:spPr>
          <a:xfrm>
            <a:off x="6309360" y="3017520"/>
            <a:ext cx="5120640" cy="685800"/>
          </a:xfrm>
          <a:prstGeom prst="rect">
            <a:avLst/>
          </a:prstGeom>
          <a:noFill/>
          <a:ln/>
        </p:spPr>
        <p:txBody>
          <a:bodyPr wrap="square" lIns="0" tIns="0" rIns="0" bIns="0" rtlCol="0" anchor="ctr"/>
          <a:lstStyle/>
          <a:p>
            <a:pPr indent="0" marL="0">
              <a:buNone/>
            </a:pPr>
            <a:r>
              <a:rPr lang="en-US" sz="1300" b="1" dirty="0">
                <a:solidFill>
                  <a:srgbClr val="14211E"/>
                </a:solidFill>
              </a:rPr>
              <a:t>Uji malam</a:t>
            </a:r>
            <a:pPr indent="0" marL="0">
              <a:buNone/>
            </a:pPr>
            <a:r>
              <a:rPr lang="en-US" sz="1300" dirty="0">
                <a:solidFill>
                  <a:srgbClr val="14211E"/>
                </a:solidFill>
              </a:rPr>
              <a:t> pompa mati dan tidak ada aliran keluar tapi isi toren turun: toren bocor; aliran keluar di atas 2 L/menit: pipa bocor.</a:t>
            </a:r>
            <a:endParaRPr lang="en-US" sz="1300" dirty="0"/>
          </a:p>
        </p:txBody>
      </p:sp>
      <p:sp>
        <p:nvSpPr>
          <p:cNvPr id="10" name="Shape 7"/>
          <p:cNvSpPr/>
          <p:nvPr/>
        </p:nvSpPr>
        <p:spPr>
          <a:xfrm>
            <a:off x="6126480" y="3931920"/>
            <a:ext cx="5486400" cy="868680"/>
          </a:xfrm>
          <a:prstGeom prst="roundRect">
            <a:avLst>
              <a:gd name="adj" fmla="val 10526"/>
            </a:avLst>
          </a:prstGeom>
          <a:solidFill>
            <a:srgbClr val="FFFFFF"/>
          </a:solidFill>
          <a:ln w="9525">
            <a:solidFill>
              <a:srgbClr val="D9D6CC"/>
            </a:solidFill>
            <a:prstDash val="solid"/>
          </a:ln>
        </p:spPr>
      </p:sp>
      <p:sp>
        <p:nvSpPr>
          <p:cNvPr id="11" name="Text 8"/>
          <p:cNvSpPr txBox="1"/>
          <p:nvPr/>
        </p:nvSpPr>
        <p:spPr>
          <a:xfrm>
            <a:off x="6309360" y="4023360"/>
            <a:ext cx="5120640" cy="685800"/>
          </a:xfrm>
          <a:prstGeom prst="rect">
            <a:avLst/>
          </a:prstGeom>
          <a:noFill/>
          <a:ln/>
        </p:spPr>
        <p:txBody>
          <a:bodyPr wrap="square" lIns="0" tIns="0" rIns="0" bIns="0" rtlCol="0" anchor="ctr"/>
          <a:lstStyle/>
          <a:p>
            <a:pPr indent="0" marL="0">
              <a:buNone/>
            </a:pPr>
            <a:r>
              <a:rPr lang="en-US" sz="1300" b="1" dirty="0">
                <a:solidFill>
                  <a:srgbClr val="14211E"/>
                </a:solidFill>
              </a:rPr>
              <a:t>Luber dan pompa tanpa hasil</a:t>
            </a:r>
            <a:pPr indent="0" marL="0">
              <a:buNone/>
            </a:pPr>
            <a:r>
              <a:rPr lang="en-US" sz="1300" dirty="0">
                <a:solidFill>
                  <a:srgbClr val="14211E"/>
                </a:solidFill>
              </a:rPr>
              <a:t> toren penuh tapi pompa mengisi; meter masuk mencatat air tapi toren tidak naik.</a:t>
            </a:r>
            <a:endParaRPr lang="en-US" sz="1300" dirty="0"/>
          </a:p>
        </p:txBody>
      </p:sp>
      <p:sp>
        <p:nvSpPr>
          <p:cNvPr id="12" name="Text 9"/>
          <p:cNvSpPr txBox="1"/>
          <p:nvPr/>
        </p:nvSpPr>
        <p:spPr>
          <a:xfrm>
            <a:off x="6126480" y="5029200"/>
            <a:ext cx="5486400" cy="1280160"/>
          </a:xfrm>
          <a:prstGeom prst="rect">
            <a:avLst/>
          </a:prstGeom>
          <a:noFill/>
          <a:ln/>
        </p:spPr>
        <p:txBody>
          <a:bodyPr wrap="square" lIns="0" tIns="0" rIns="0" bIns="0" rtlCol="0" anchor="t"/>
          <a:lstStyle/>
          <a:p>
            <a:pPr indent="0" marL="0">
              <a:spcAft>
                <a:spcPts val="1000"/>
              </a:spcAft>
              <a:buNone/>
            </a:pPr>
            <a:r>
              <a:rPr lang="en-US" sz="1300" dirty="0">
                <a:solidFill>
                  <a:srgbClr val="4A5568"/>
                </a:solidFill>
              </a:rPr>
              <a:t>Ditambah aliran nol siang hari, lonjakan harian, aki rendah, sensor putus, dan offline. Ringkasan tiap toren dikirim ke Telegram pukul 06.30.</a:t>
            </a:r>
            <a:endParaRPr lang="en-US" sz="1300" dirty="0"/>
          </a:p>
        </p:txBody>
      </p:sp>
      <p:sp>
        <p:nvSpPr>
          <p:cNvPr id="13" name="Text 1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4A5568"/>
                </a:solidFill>
              </a:rPr>
              <a:t>Gambar 5. Flowchart pengolahan data di server</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PEMILIHAN ALAT UKUR</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Water meter utilitas bermodul pulsa untuk dua titik, sensor tekanan untuk level toren</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2560320"/>
                <a:gridCol w="2560320"/>
                <a:gridCol w="2011680"/>
                <a:gridCol w="3931920"/>
              </a:tblGrid>
              <a:tr h="548640">
                <a:tc>
                  <a:txBody>
                    <a:bodyPr/>
                    <a:lstStyle/>
                    <a:p>
                      <a:pPr indent="0" marL="0">
                        <a:buNone/>
                      </a:pPr>
                      <a:r>
                        <a:rPr lang="en-US" sz="1300" b="1" dirty="0">
                          <a:solidFill>
                            <a:srgbClr val="FFFFFF"/>
                          </a:solidFill>
                        </a:rPr>
                        <a:t>Kelas</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0B3B33"/>
                    </a:solidFill>
                  </a:tcPr>
                </a:tc>
                <a:tc>
                  <a:txBody>
                    <a:bodyPr/>
                    <a:lstStyle/>
                    <a:p>
                      <a:pPr indent="0" marL="0">
                        <a:buNone/>
                      </a:pPr>
                      <a:r>
                        <a:rPr lang="en-US" sz="1300" b="1" dirty="0">
                          <a:solidFill>
                            <a:srgbClr val="FFFFFF"/>
                          </a:solidFill>
                        </a:rPr>
                        <a:t>Contoh</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0B3B33"/>
                    </a:solidFill>
                  </a:tcPr>
                </a:tc>
                <a:tc>
                  <a:txBody>
                    <a:bodyPr/>
                    <a:lstStyle/>
                    <a:p>
                      <a:pPr indent="0" marL="0">
                        <a:buNone/>
                      </a:pPr>
                      <a:r>
                        <a:rPr lang="en-US" sz="1300" b="1" dirty="0">
                          <a:solidFill>
                            <a:srgbClr val="FFFFFF"/>
                          </a:solidFill>
                        </a:rPr>
                        <a:t>Harga</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0B3B33"/>
                    </a:solidFill>
                  </a:tcPr>
                </a:tc>
                <a:tc>
                  <a:txBody>
                    <a:bodyPr/>
                    <a:lstStyle/>
                    <a:p>
                      <a:pPr indent="0" marL="0">
                        <a:buNone/>
                      </a:pPr>
                      <a:r>
                        <a:rPr lang="en-US" sz="1300" b="1" dirty="0">
                          <a:solidFill>
                            <a:srgbClr val="FFFFFF"/>
                          </a:solidFill>
                        </a:rPr>
                        <a:t>Kecocokan untuk tandon desa</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0B3B33"/>
                    </a:solidFill>
                  </a:tcPr>
                </a:tc>
              </a:tr>
              <a:tr h="548640">
                <a:tc>
                  <a:txBody>
                    <a:bodyPr/>
                    <a:lstStyle/>
                    <a:p>
                      <a:pPr indent="0" marL="0">
                        <a:buNone/>
                      </a:pPr>
                      <a:r>
                        <a:rPr lang="en-US" sz="1300" dirty="0">
                          <a:solidFill>
                            <a:srgbClr val="14211E"/>
                          </a:solidFill>
                        </a:rPr>
                        <a:t>Sensor turbin plastik</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300" dirty="0">
                          <a:solidFill>
                            <a:srgbClr val="14211E"/>
                          </a:solidFill>
                        </a:rPr>
                        <a:t>YF-S201, YF-DN50</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300" dirty="0">
                          <a:solidFill>
                            <a:srgbClr val="14211E"/>
                          </a:solidFill>
                        </a:rPr>
                        <a:t>Rp30 ribu sampai 360 ribu</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300" dirty="0">
                          <a:solidFill>
                            <a:srgbClr val="14211E"/>
                          </a:solidFill>
                        </a:rPr>
                        <a:t>Tidak membaca aliran kecil malam hari, cepat macet oleh pasir</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r>
              <a:tr h="548640">
                <a:tc>
                  <a:txBody>
                    <a:bodyPr/>
                    <a:lstStyle/>
                    <a:p>
                      <a:pPr indent="0" marL="0">
                        <a:buNone/>
                      </a:pPr>
                      <a:r>
                        <a:rPr lang="en-US" sz="1300" b="1" dirty="0">
                          <a:solidFill>
                            <a:srgbClr val="14211E"/>
                          </a:solidFill>
                        </a:rPr>
                        <a:t>Water meter utilitas + modul pulsa</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1F5EE"/>
                    </a:solidFill>
                  </a:tcPr>
                </a:tc>
                <a:tc>
                  <a:txBody>
                    <a:bodyPr/>
                    <a:lstStyle/>
                    <a:p>
                      <a:pPr indent="0" marL="0">
                        <a:buNone/>
                      </a:pPr>
                      <a:r>
                        <a:rPr lang="en-US" sz="1300" b="1" dirty="0">
                          <a:solidFill>
                            <a:srgbClr val="14211E"/>
                          </a:solidFill>
                        </a:rPr>
                        <a:t>Onda, Amico, Itron Aquadis DN40</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1F5EE"/>
                    </a:solidFill>
                  </a:tcPr>
                </a:tc>
                <a:tc>
                  <a:txBody>
                    <a:bodyPr/>
                    <a:lstStyle/>
                    <a:p>
                      <a:pPr indent="0" marL="0">
                        <a:buNone/>
                      </a:pPr>
                      <a:r>
                        <a:rPr lang="en-US" sz="1300" b="1" dirty="0">
                          <a:solidFill>
                            <a:srgbClr val="14211E"/>
                          </a:solidFill>
                        </a:rPr>
                        <a:t>Rp1,2 sampai 2 juta</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1F5EE"/>
                    </a:solidFill>
                  </a:tcPr>
                </a:tc>
                <a:tc>
                  <a:txBody>
                    <a:bodyPr/>
                    <a:lstStyle/>
                    <a:p>
                      <a:pPr indent="0" marL="0">
                        <a:buNone/>
                      </a:pPr>
                      <a:r>
                        <a:rPr lang="en-US" sz="1300" b="1" dirty="0">
                          <a:solidFill>
                            <a:srgbClr val="14211E"/>
                          </a:solidFill>
                        </a:rPr>
                        <a:t>Tera ISO 4064, tahan pasir, tanpa daya, angka sah untuk iuran</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1F5EE"/>
                    </a:solidFill>
                  </a:tcPr>
                </a:tc>
              </a:tr>
              <a:tr h="548640">
                <a:tc>
                  <a:txBody>
                    <a:bodyPr/>
                    <a:lstStyle/>
                    <a:p>
                      <a:pPr indent="0" marL="0">
                        <a:buNone/>
                      </a:pPr>
                      <a:r>
                        <a:rPr lang="en-US" sz="1300" dirty="0">
                          <a:solidFill>
                            <a:srgbClr val="14211E"/>
                          </a:solidFill>
                        </a:rPr>
                        <a:t>Elektromagnetik / ultrasonik</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300" dirty="0">
                          <a:solidFill>
                            <a:srgbClr val="14211E"/>
                          </a:solidFill>
                        </a:rPr>
                        <a:t>Primapro, Itron Intelis</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300" dirty="0">
                          <a:solidFill>
                            <a:srgbClr val="14211E"/>
                          </a:solidFill>
                        </a:rPr>
                        <a:t>Rp6 juta ke atas</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indent="0" marL="0">
                        <a:buNone/>
                      </a:pPr>
                      <a:r>
                        <a:rPr lang="en-US" sz="1300" dirty="0">
                          <a:solidFill>
                            <a:srgbClr val="14211E"/>
                          </a:solidFill>
                        </a:rPr>
                        <a:t>Akurat, tapi butuh 24 V terus-menerus dan harga berlipat</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r>
            </a:tbl>
          </a:graphicData>
        </a:graphic>
      </p:graphicFrame>
      <p:sp>
        <p:nvSpPr>
          <p:cNvPr id="5" name="Text 2"/>
          <p:cNvSpPr txBox="1"/>
          <p:nvPr/>
        </p:nvSpPr>
        <p:spPr>
          <a:xfrm>
            <a:off x="548640" y="4846320"/>
            <a:ext cx="11064240" cy="1188720"/>
          </a:xfrm>
          <a:prstGeom prst="rect">
            <a:avLst/>
          </a:prstGeom>
          <a:noFill/>
          <a:ln/>
        </p:spPr>
        <p:txBody>
          <a:bodyPr wrap="square" lIns="0" tIns="0" rIns="0" bIns="0" rtlCol="0" anchor="t"/>
          <a:lstStyle/>
          <a:p>
            <a:pPr indent="0" marL="0">
              <a:spcAft>
                <a:spcPts val="1000"/>
              </a:spcAft>
              <a:buNone/>
            </a:pPr>
            <a:r>
              <a:rPr lang="en-US" sz="1300" dirty="0">
                <a:solidFill>
                  <a:srgbClr val="4A5568"/>
                </a:solidFill>
              </a:rPr>
              <a:t>Meter keluar DN40 untuk pipa 1½ inci (DN15 di Tuwiri Kulon), meter masuk DN20 atau DN25 sesuai pipa pompa. Level toren dibaca sensor tekanan hidrostatik 0 sampai 2 m di nipel bawah, resolusi sekitar 5 liter.</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SPESIFIKASI TEKNIS</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Komponen dipilih untuk lima rumah pompa berlistrik PLN, air berpasir, dirawat warga sendiri</a:t>
            </a:r>
            <a:endParaRPr lang="en-US" sz="2800" dirty="0"/>
          </a:p>
        </p:txBody>
      </p:sp>
      <p:sp>
        <p:nvSpPr>
          <p:cNvPr id="4" name="Shape 2"/>
          <p:cNvSpPr/>
          <p:nvPr/>
        </p:nvSpPr>
        <p:spPr>
          <a:xfrm>
            <a:off x="548640" y="2011680"/>
            <a:ext cx="3566160" cy="1645920"/>
          </a:xfrm>
          <a:prstGeom prst="roundRect">
            <a:avLst>
              <a:gd name="adj" fmla="val 6667"/>
            </a:avLst>
          </a:prstGeom>
          <a:solidFill>
            <a:srgbClr val="FFFFFF"/>
          </a:solidFill>
          <a:ln w="9525">
            <a:solidFill>
              <a:srgbClr val="D9D6CC"/>
            </a:solidFill>
            <a:prstDash val="solid"/>
          </a:ln>
        </p:spPr>
      </p:sp>
      <p:sp>
        <p:nvSpPr>
          <p:cNvPr id="5" name="Text 3"/>
          <p:cNvSpPr txBox="1"/>
          <p:nvPr/>
        </p:nvSpPr>
        <p:spPr>
          <a:xfrm>
            <a:off x="777240" y="2194560"/>
            <a:ext cx="3108960" cy="365760"/>
          </a:xfrm>
          <a:prstGeom prst="rect">
            <a:avLst/>
          </a:prstGeom>
          <a:noFill/>
          <a:ln/>
        </p:spPr>
        <p:txBody>
          <a:bodyPr wrap="square" lIns="0" tIns="0" rIns="0" bIns="0" rtlCol="0" anchor="ctr"/>
          <a:lstStyle/>
          <a:p>
            <a:pPr indent="0" marL="0">
              <a:buNone/>
            </a:pPr>
            <a:r>
              <a:rPr lang="en-US" sz="1600" b="1" dirty="0">
                <a:solidFill>
                  <a:srgbClr val="0F6E56"/>
                </a:solidFill>
              </a:rPr>
              <a:t>Alat ukur</a:t>
            </a:r>
            <a:endParaRPr lang="en-US" sz="1600" dirty="0"/>
          </a:p>
        </p:txBody>
      </p:sp>
      <p:sp>
        <p:nvSpPr>
          <p:cNvPr id="6" name="Text 4"/>
          <p:cNvSpPr txBox="1"/>
          <p:nvPr/>
        </p:nvSpPr>
        <p:spPr>
          <a:xfrm>
            <a:off x="777240" y="2606040"/>
            <a:ext cx="3108960" cy="868680"/>
          </a:xfrm>
          <a:prstGeom prst="rect">
            <a:avLst/>
          </a:prstGeom>
          <a:noFill/>
          <a:ln/>
        </p:spPr>
        <p:txBody>
          <a:bodyPr wrap="square" lIns="0" tIns="0" rIns="0" bIns="0" rtlCol="0" anchor="t"/>
          <a:lstStyle/>
          <a:p>
            <a:pPr indent="0" marL="0">
              <a:spcAft>
                <a:spcPts val="400"/>
              </a:spcAft>
              <a:buNone/>
            </a:pPr>
            <a:r>
              <a:rPr lang="en-US" sz="1200" dirty="0">
                <a:solidFill>
                  <a:srgbClr val="4A5568"/>
                </a:solidFill>
              </a:rPr>
              <a:t>Meter keluar DN40/DN15 dan meter masuk DN20/DN25, kelas B, modul pulsa 10 L, strainer Y</a:t>
            </a:r>
            <a:endParaRPr lang="en-US" sz="1200" dirty="0"/>
          </a:p>
        </p:txBody>
      </p:sp>
      <p:sp>
        <p:nvSpPr>
          <p:cNvPr id="7" name="Shape 5"/>
          <p:cNvSpPr/>
          <p:nvPr/>
        </p:nvSpPr>
        <p:spPr>
          <a:xfrm>
            <a:off x="4297680" y="2011680"/>
            <a:ext cx="3566160" cy="1645920"/>
          </a:xfrm>
          <a:prstGeom prst="roundRect">
            <a:avLst>
              <a:gd name="adj" fmla="val 6667"/>
            </a:avLst>
          </a:prstGeom>
          <a:solidFill>
            <a:srgbClr val="FFFFFF"/>
          </a:solidFill>
          <a:ln w="9525">
            <a:solidFill>
              <a:srgbClr val="D9D6CC"/>
            </a:solidFill>
            <a:prstDash val="solid"/>
          </a:ln>
        </p:spPr>
      </p:sp>
      <p:sp>
        <p:nvSpPr>
          <p:cNvPr id="8" name="Text 6"/>
          <p:cNvSpPr txBox="1"/>
          <p:nvPr/>
        </p:nvSpPr>
        <p:spPr>
          <a:xfrm>
            <a:off x="4526280" y="2194560"/>
            <a:ext cx="3108960" cy="365760"/>
          </a:xfrm>
          <a:prstGeom prst="rect">
            <a:avLst/>
          </a:prstGeom>
          <a:noFill/>
          <a:ln/>
        </p:spPr>
        <p:txBody>
          <a:bodyPr wrap="square" lIns="0" tIns="0" rIns="0" bIns="0" rtlCol="0" anchor="ctr"/>
          <a:lstStyle/>
          <a:p>
            <a:pPr indent="0" marL="0">
              <a:buNone/>
            </a:pPr>
            <a:r>
              <a:rPr lang="en-US" sz="1600" b="1" dirty="0">
                <a:solidFill>
                  <a:srgbClr val="0F6E56"/>
                </a:solidFill>
              </a:rPr>
              <a:t>Mikrokontroler</a:t>
            </a:r>
            <a:endParaRPr lang="en-US" sz="1600" dirty="0"/>
          </a:p>
        </p:txBody>
      </p:sp>
      <p:sp>
        <p:nvSpPr>
          <p:cNvPr id="9" name="Text 7"/>
          <p:cNvSpPr txBox="1"/>
          <p:nvPr/>
        </p:nvSpPr>
        <p:spPr>
          <a:xfrm>
            <a:off x="4526280" y="2606040"/>
            <a:ext cx="3108960" cy="868680"/>
          </a:xfrm>
          <a:prstGeom prst="rect">
            <a:avLst/>
          </a:prstGeom>
          <a:noFill/>
          <a:ln/>
        </p:spPr>
        <p:txBody>
          <a:bodyPr wrap="square" lIns="0" tIns="0" rIns="0" bIns="0" rtlCol="0" anchor="t"/>
          <a:lstStyle/>
          <a:p>
            <a:pPr indent="0" marL="0">
              <a:spcAft>
                <a:spcPts val="400"/>
              </a:spcAft>
              <a:buNone/>
            </a:pPr>
            <a:r>
              <a:rPr lang="en-US" sz="1200" dirty="0">
                <a:solidFill>
                  <a:srgbClr val="4A5568"/>
                </a:solidFill>
              </a:rPr>
              <a:t>ESP32 DevKit V1, dua interrupt pulsa dengan debounce 20 ms, ADC untuk level dan aki</a:t>
            </a:r>
            <a:endParaRPr lang="en-US" sz="1200" dirty="0"/>
          </a:p>
        </p:txBody>
      </p:sp>
      <p:sp>
        <p:nvSpPr>
          <p:cNvPr id="10" name="Shape 8"/>
          <p:cNvSpPr/>
          <p:nvPr/>
        </p:nvSpPr>
        <p:spPr>
          <a:xfrm>
            <a:off x="8046720" y="2011680"/>
            <a:ext cx="3566160" cy="1645920"/>
          </a:xfrm>
          <a:prstGeom prst="roundRect">
            <a:avLst>
              <a:gd name="adj" fmla="val 6667"/>
            </a:avLst>
          </a:prstGeom>
          <a:solidFill>
            <a:srgbClr val="FFFFFF"/>
          </a:solidFill>
          <a:ln w="9525">
            <a:solidFill>
              <a:srgbClr val="D9D6CC"/>
            </a:solidFill>
            <a:prstDash val="solid"/>
          </a:ln>
        </p:spPr>
      </p:sp>
      <p:sp>
        <p:nvSpPr>
          <p:cNvPr id="11" name="Text 9"/>
          <p:cNvSpPr txBox="1"/>
          <p:nvPr/>
        </p:nvSpPr>
        <p:spPr>
          <a:xfrm>
            <a:off x="8275320" y="2194560"/>
            <a:ext cx="3108960" cy="365760"/>
          </a:xfrm>
          <a:prstGeom prst="rect">
            <a:avLst/>
          </a:prstGeom>
          <a:noFill/>
          <a:ln/>
        </p:spPr>
        <p:txBody>
          <a:bodyPr wrap="square" lIns="0" tIns="0" rIns="0" bIns="0" rtlCol="0" anchor="ctr"/>
          <a:lstStyle/>
          <a:p>
            <a:pPr indent="0" marL="0">
              <a:buNone/>
            </a:pPr>
            <a:r>
              <a:rPr lang="en-US" sz="1600" b="1" dirty="0">
                <a:solidFill>
                  <a:srgbClr val="0F6E56"/>
                </a:solidFill>
              </a:rPr>
              <a:t>Sensor level dan buffer</a:t>
            </a:r>
            <a:endParaRPr lang="en-US" sz="1600" dirty="0"/>
          </a:p>
        </p:txBody>
      </p:sp>
      <p:sp>
        <p:nvSpPr>
          <p:cNvPr id="12" name="Text 10"/>
          <p:cNvSpPr txBox="1"/>
          <p:nvPr/>
        </p:nvSpPr>
        <p:spPr>
          <a:xfrm>
            <a:off x="8275320" y="2606040"/>
            <a:ext cx="3108960" cy="868680"/>
          </a:xfrm>
          <a:prstGeom prst="rect">
            <a:avLst/>
          </a:prstGeom>
          <a:noFill/>
          <a:ln/>
        </p:spPr>
        <p:txBody>
          <a:bodyPr wrap="square" lIns="0" tIns="0" rIns="0" bIns="0" rtlCol="0" anchor="t"/>
          <a:lstStyle/>
          <a:p>
            <a:pPr indent="0" marL="0">
              <a:spcAft>
                <a:spcPts val="400"/>
              </a:spcAft>
              <a:buNone/>
            </a:pPr>
            <a:r>
              <a:rPr lang="en-US" sz="1200" dirty="0">
                <a:solidFill>
                  <a:srgbClr val="4A5568"/>
                </a:solidFill>
              </a:rPr>
              <a:t>Sensor tekanan 0–2 mH₂O, 4–20 mA, lewat tee di nipel bawah toren; microSD dan RTC</a:t>
            </a:r>
            <a:endParaRPr lang="en-US" sz="1200" dirty="0"/>
          </a:p>
        </p:txBody>
      </p:sp>
      <p:sp>
        <p:nvSpPr>
          <p:cNvPr id="13" name="Shape 11"/>
          <p:cNvSpPr/>
          <p:nvPr/>
        </p:nvSpPr>
        <p:spPr>
          <a:xfrm>
            <a:off x="548640" y="3794760"/>
            <a:ext cx="3566160" cy="1645920"/>
          </a:xfrm>
          <a:prstGeom prst="roundRect">
            <a:avLst>
              <a:gd name="adj" fmla="val 6667"/>
            </a:avLst>
          </a:prstGeom>
          <a:solidFill>
            <a:srgbClr val="FFFFFF"/>
          </a:solidFill>
          <a:ln w="9525">
            <a:solidFill>
              <a:srgbClr val="D9D6CC"/>
            </a:solidFill>
            <a:prstDash val="solid"/>
          </a:ln>
        </p:spPr>
      </p:sp>
      <p:sp>
        <p:nvSpPr>
          <p:cNvPr id="14" name="Text 12"/>
          <p:cNvSpPr txBox="1"/>
          <p:nvPr/>
        </p:nvSpPr>
        <p:spPr>
          <a:xfrm>
            <a:off x="777240" y="3977640"/>
            <a:ext cx="3108960" cy="365760"/>
          </a:xfrm>
          <a:prstGeom prst="rect">
            <a:avLst/>
          </a:prstGeom>
          <a:noFill/>
          <a:ln/>
        </p:spPr>
        <p:txBody>
          <a:bodyPr wrap="square" lIns="0" tIns="0" rIns="0" bIns="0" rtlCol="0" anchor="ctr"/>
          <a:lstStyle/>
          <a:p>
            <a:pPr indent="0" marL="0">
              <a:buNone/>
            </a:pPr>
            <a:r>
              <a:rPr lang="en-US" sz="1600" b="1" dirty="0">
                <a:solidFill>
                  <a:srgbClr val="0F6E56"/>
                </a:solidFill>
              </a:rPr>
              <a:t>Komunikasi</a:t>
            </a:r>
            <a:endParaRPr lang="en-US" sz="1600" dirty="0"/>
          </a:p>
        </p:txBody>
      </p:sp>
      <p:sp>
        <p:nvSpPr>
          <p:cNvPr id="15" name="Text 13"/>
          <p:cNvSpPr txBox="1"/>
          <p:nvPr/>
        </p:nvSpPr>
        <p:spPr>
          <a:xfrm>
            <a:off x="777240" y="4389120"/>
            <a:ext cx="3108960" cy="868680"/>
          </a:xfrm>
          <a:prstGeom prst="rect">
            <a:avLst/>
          </a:prstGeom>
          <a:noFill/>
          <a:ln/>
        </p:spPr>
        <p:txBody>
          <a:bodyPr wrap="square" lIns="0" tIns="0" rIns="0" bIns="0" rtlCol="0" anchor="t"/>
          <a:lstStyle/>
          <a:p>
            <a:pPr indent="0" marL="0">
              <a:spcAft>
                <a:spcPts val="400"/>
              </a:spcAft>
              <a:buNone/>
            </a:pPr>
            <a:r>
              <a:rPr lang="en-US" sz="1200" dirty="0">
                <a:solidFill>
                  <a:srgbClr val="4A5568"/>
                </a:solidFill>
              </a:rPr>
              <a:t>Modul 4G SIM7600 dengan kartu IM3, MQTT TLS port 8883, kirim tiap 15 menit, kuota sekitar 1 MB per bulan</a:t>
            </a:r>
            <a:endParaRPr lang="en-US" sz="1200" dirty="0"/>
          </a:p>
        </p:txBody>
      </p:sp>
      <p:sp>
        <p:nvSpPr>
          <p:cNvPr id="16" name="Shape 14"/>
          <p:cNvSpPr/>
          <p:nvPr/>
        </p:nvSpPr>
        <p:spPr>
          <a:xfrm>
            <a:off x="4297680" y="3794760"/>
            <a:ext cx="3566160" cy="1645920"/>
          </a:xfrm>
          <a:prstGeom prst="roundRect">
            <a:avLst>
              <a:gd name="adj" fmla="val 6667"/>
            </a:avLst>
          </a:prstGeom>
          <a:solidFill>
            <a:srgbClr val="FFFFFF"/>
          </a:solidFill>
          <a:ln w="9525">
            <a:solidFill>
              <a:srgbClr val="D9D6CC"/>
            </a:solidFill>
            <a:prstDash val="solid"/>
          </a:ln>
        </p:spPr>
      </p:sp>
      <p:sp>
        <p:nvSpPr>
          <p:cNvPr id="17" name="Text 15"/>
          <p:cNvSpPr txBox="1"/>
          <p:nvPr/>
        </p:nvSpPr>
        <p:spPr>
          <a:xfrm>
            <a:off x="4526280" y="3977640"/>
            <a:ext cx="3108960" cy="365760"/>
          </a:xfrm>
          <a:prstGeom prst="rect">
            <a:avLst/>
          </a:prstGeom>
          <a:noFill/>
          <a:ln/>
        </p:spPr>
        <p:txBody>
          <a:bodyPr wrap="square" lIns="0" tIns="0" rIns="0" bIns="0" rtlCol="0" anchor="ctr"/>
          <a:lstStyle/>
          <a:p>
            <a:pPr indent="0" marL="0">
              <a:buNone/>
            </a:pPr>
            <a:r>
              <a:rPr lang="en-US" sz="1600" b="1" dirty="0">
                <a:solidFill>
                  <a:srgbClr val="0F6E56"/>
                </a:solidFill>
              </a:rPr>
              <a:t>Catu daya</a:t>
            </a:r>
            <a:endParaRPr lang="en-US" sz="1600" dirty="0"/>
          </a:p>
        </p:txBody>
      </p:sp>
      <p:sp>
        <p:nvSpPr>
          <p:cNvPr id="18" name="Text 16"/>
          <p:cNvSpPr txBox="1"/>
          <p:nvPr/>
        </p:nvSpPr>
        <p:spPr>
          <a:xfrm>
            <a:off x="4526280" y="4389120"/>
            <a:ext cx="3108960" cy="868680"/>
          </a:xfrm>
          <a:prstGeom prst="rect">
            <a:avLst/>
          </a:prstGeom>
          <a:noFill/>
          <a:ln/>
        </p:spPr>
        <p:txBody>
          <a:bodyPr wrap="square" lIns="0" tIns="0" rIns="0" bIns="0" rtlCol="0" anchor="t"/>
          <a:lstStyle/>
          <a:p>
            <a:pPr indent="0" marL="0">
              <a:spcAft>
                <a:spcPts val="400"/>
              </a:spcAft>
              <a:buNone/>
            </a:pPr>
            <a:r>
              <a:rPr lang="en-US" sz="1200" dirty="0">
                <a:solidFill>
                  <a:srgbClr val="4A5568"/>
                </a:solidFill>
              </a:rPr>
              <a:t>Adaptor 12 V dari PLN rumah pompa, modul charger, aki VRLA 7 Ah cadangan lebih dari sehari</a:t>
            </a:r>
            <a:endParaRPr lang="en-US" sz="1200" dirty="0"/>
          </a:p>
        </p:txBody>
      </p:sp>
      <p:sp>
        <p:nvSpPr>
          <p:cNvPr id="19" name="Shape 17"/>
          <p:cNvSpPr/>
          <p:nvPr/>
        </p:nvSpPr>
        <p:spPr>
          <a:xfrm>
            <a:off x="8046720" y="3794760"/>
            <a:ext cx="3566160" cy="1645920"/>
          </a:xfrm>
          <a:prstGeom prst="roundRect">
            <a:avLst>
              <a:gd name="adj" fmla="val 6667"/>
            </a:avLst>
          </a:prstGeom>
          <a:solidFill>
            <a:srgbClr val="FFFFFF"/>
          </a:solidFill>
          <a:ln w="9525">
            <a:solidFill>
              <a:srgbClr val="D9D6CC"/>
            </a:solidFill>
            <a:prstDash val="solid"/>
          </a:ln>
        </p:spPr>
      </p:sp>
      <p:sp>
        <p:nvSpPr>
          <p:cNvPr id="20" name="Text 18"/>
          <p:cNvSpPr txBox="1"/>
          <p:nvPr/>
        </p:nvSpPr>
        <p:spPr>
          <a:xfrm>
            <a:off x="8275320" y="3977640"/>
            <a:ext cx="3108960" cy="365760"/>
          </a:xfrm>
          <a:prstGeom prst="rect">
            <a:avLst/>
          </a:prstGeom>
          <a:noFill/>
          <a:ln/>
        </p:spPr>
        <p:txBody>
          <a:bodyPr wrap="square" lIns="0" tIns="0" rIns="0" bIns="0" rtlCol="0" anchor="ctr"/>
          <a:lstStyle/>
          <a:p>
            <a:pPr indent="0" marL="0">
              <a:buNone/>
            </a:pPr>
            <a:r>
              <a:rPr lang="en-US" sz="1600" b="1" dirty="0">
                <a:solidFill>
                  <a:srgbClr val="0F6E56"/>
                </a:solidFill>
              </a:rPr>
              <a:t>Server</a:t>
            </a:r>
            <a:endParaRPr lang="en-US" sz="1600" dirty="0"/>
          </a:p>
        </p:txBody>
      </p:sp>
      <p:sp>
        <p:nvSpPr>
          <p:cNvPr id="21" name="Text 19"/>
          <p:cNvSpPr txBox="1"/>
          <p:nvPr/>
        </p:nvSpPr>
        <p:spPr>
          <a:xfrm>
            <a:off x="8275320" y="4389120"/>
            <a:ext cx="3108960" cy="868680"/>
          </a:xfrm>
          <a:prstGeom prst="rect">
            <a:avLst/>
          </a:prstGeom>
          <a:noFill/>
          <a:ln/>
        </p:spPr>
        <p:txBody>
          <a:bodyPr wrap="square" lIns="0" tIns="0" rIns="0" bIns="0" rtlCol="0" anchor="t"/>
          <a:lstStyle/>
          <a:p>
            <a:pPr indent="0" marL="0">
              <a:spcAft>
                <a:spcPts val="400"/>
              </a:spcAft>
              <a:buNone/>
            </a:pPr>
            <a:r>
              <a:rPr lang="en-US" sz="1200" dirty="0">
                <a:solidFill>
                  <a:srgbClr val="4A5568"/>
                </a:solidFill>
              </a:rPr>
              <a:t>HiveMQ Cloud, Supabase, Grafana Cloud, bot Telegram; paket gratis cukup untuk lima node</a:t>
            </a:r>
            <a:endParaRPr lang="en-US" sz="1200" dirty="0"/>
          </a:p>
        </p:txBody>
      </p:sp>
      <p:sp>
        <p:nvSpPr>
          <p:cNvPr id="22" name="Text 20"/>
          <p:cNvSpPr txBox="1"/>
          <p:nvPr/>
        </p:nvSpPr>
        <p:spPr>
          <a:xfrm>
            <a:off x="548640" y="5623560"/>
            <a:ext cx="11064240" cy="731520"/>
          </a:xfrm>
          <a:prstGeom prst="rect">
            <a:avLst/>
          </a:prstGeom>
          <a:noFill/>
          <a:ln/>
        </p:spPr>
        <p:txBody>
          <a:bodyPr wrap="square" lIns="0" tIns="0" rIns="0" bIns="0" rtlCol="0" anchor="t"/>
          <a:lstStyle/>
          <a:p>
            <a:pPr indent="0" marL="0">
              <a:spcAft>
                <a:spcPts val="1000"/>
              </a:spcAft>
              <a:buNone/>
            </a:pPr>
            <a:r>
              <a:rPr lang="en-US" sz="1200" dirty="0">
                <a:solidFill>
                  <a:srgbClr val="4A5568"/>
                </a:solidFill>
              </a:rPr>
              <a:t>Ketelitian neraca mengikuti dua meter kelas B (±2 %) dan sensor level (±0,5 %), sehingga selisih harian sampai 4 % dari air masuk masih wajar.</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RENCANA ANGGARAN BIAYA</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Biaya dasar Rp28,9 juta; dengan cadangan risiko dan manajemen, anggaran Rp33,2 juta</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583680" cy="914400"/>
        </p:xfrm>
        <a:graphic>
          <a:graphicData uri="http://schemas.openxmlformats.org/drawingml/2006/table">
            <a:tbl>
              <a:tblPr/>
              <a:tblGrid>
                <a:gridCol w="4937760"/>
                <a:gridCol w="1645920"/>
              </a:tblGrid>
              <a:tr h="502920">
                <a:tc>
                  <a:txBody>
                    <a:bodyPr/>
                    <a:lstStyle/>
                    <a:p>
                      <a:pPr indent="0" marL="0">
                        <a:buNone/>
                      </a:pPr>
                      <a:r>
                        <a:rPr lang="en-US" sz="1300" b="1" dirty="0">
                          <a:solidFill>
                            <a:srgbClr val="FFFFFF"/>
                          </a:solidFill>
                        </a:rPr>
                        <a:t>Kelompok</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0B3B33"/>
                    </a:solidFill>
                  </a:tcPr>
                </a:tc>
                <a:tc>
                  <a:txBody>
                    <a:bodyPr/>
                    <a:lstStyle/>
                    <a:p>
                      <a:pPr algn="r" indent="0" marL="0">
                        <a:buNone/>
                      </a:pPr>
                      <a:r>
                        <a:rPr lang="en-US" sz="1300" b="1" dirty="0">
                          <a:solidFill>
                            <a:srgbClr val="FFFFFF"/>
                          </a:solidFill>
                        </a:rPr>
                        <a:t>Rp</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0B3B33"/>
                    </a:solidFill>
                  </a:tcPr>
                </a:tc>
              </a:tr>
              <a:tr h="502920">
                <a:tc>
                  <a:txBody>
                    <a:bodyPr/>
                    <a:lstStyle/>
                    <a:p>
                      <a:pPr indent="0" marL="0">
                        <a:buNone/>
                      </a:pPr>
                      <a:r>
                        <a:rPr lang="en-US" sz="1300" dirty="0">
                          <a:solidFill>
                            <a:srgbClr val="14211E"/>
                          </a:solidFill>
                        </a:rPr>
                        <a:t>Meter keluar DN40 + pulsa, strainer, fitting</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algn="r" indent="0" marL="0">
                        <a:buNone/>
                      </a:pPr>
                      <a:r>
                        <a:rPr lang="en-US" sz="1300" dirty="0">
                          <a:solidFill>
                            <a:srgbClr val="14211E"/>
                          </a:solidFill>
                        </a:rPr>
                        <a:t>2.000.000</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r>
              <a:tr h="502920">
                <a:tc>
                  <a:txBody>
                    <a:bodyPr/>
                    <a:lstStyle/>
                    <a:p>
                      <a:pPr indent="0" marL="0">
                        <a:buNone/>
                      </a:pPr>
                      <a:r>
                        <a:rPr lang="en-US" sz="1300" dirty="0">
                          <a:solidFill>
                            <a:srgbClr val="14211E"/>
                          </a:solidFill>
                        </a:rPr>
                        <a:t>Meter masuk DN20/DN25 + pulsa, sensor level</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algn="r" indent="0" marL="0">
                        <a:buNone/>
                      </a:pPr>
                      <a:r>
                        <a:rPr lang="en-US" sz="1300" dirty="0">
                          <a:solidFill>
                            <a:srgbClr val="14211E"/>
                          </a:solidFill>
                        </a:rPr>
                        <a:t>1.330.000</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r>
              <a:tr h="502920">
                <a:tc>
                  <a:txBody>
                    <a:bodyPr/>
                    <a:lstStyle/>
                    <a:p>
                      <a:pPr indent="0" marL="0">
                        <a:buNone/>
                      </a:pPr>
                      <a:r>
                        <a:rPr lang="en-US" sz="1300" dirty="0">
                          <a:solidFill>
                            <a:srgbClr val="14211E"/>
                          </a:solidFill>
                        </a:rPr>
                        <a:t>ESP32, modul 4G, SIM, RTC, microSD, PCB</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algn="r" indent="0" marL="0">
                        <a:buNone/>
                      </a:pPr>
                      <a:r>
                        <a:rPr lang="en-US" sz="1300" dirty="0">
                          <a:solidFill>
                            <a:srgbClr val="14211E"/>
                          </a:solidFill>
                        </a:rPr>
                        <a:t>760.000</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r>
              <a:tr h="502920">
                <a:tc>
                  <a:txBody>
                    <a:bodyPr/>
                    <a:lstStyle/>
                    <a:p>
                      <a:pPr indent="0" marL="0">
                        <a:buNone/>
                      </a:pPr>
                      <a:r>
                        <a:rPr lang="en-US" sz="1300" dirty="0">
                          <a:solidFill>
                            <a:srgbClr val="14211E"/>
                          </a:solidFill>
                        </a:rPr>
                        <a:t>Adaptor PLN, aki, box, kabel, jasa pipa</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c>
                  <a:txBody>
                    <a:bodyPr/>
                    <a:lstStyle/>
                    <a:p>
                      <a:pPr algn="r" indent="0" marL="0">
                        <a:buNone/>
                      </a:pPr>
                      <a:r>
                        <a:rPr lang="en-US" sz="1300" dirty="0">
                          <a:solidFill>
                            <a:srgbClr val="14211E"/>
                          </a:solidFill>
                        </a:rPr>
                        <a:t>860.000</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tcPr>
                </a:tc>
              </a:tr>
              <a:tr h="502920">
                <a:tc>
                  <a:txBody>
                    <a:bodyPr/>
                    <a:lstStyle/>
                    <a:p>
                      <a:pPr indent="0" marL="0">
                        <a:buNone/>
                      </a:pPr>
                      <a:r>
                        <a:rPr lang="en-US" sz="1300" b="1" dirty="0">
                          <a:solidFill>
                            <a:srgbClr val="14211E"/>
                          </a:solidFill>
                        </a:rPr>
                        <a:t>Per lokasi (keluaran DN40)</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1F5EE"/>
                    </a:solidFill>
                  </a:tcPr>
                </a:tc>
                <a:tc>
                  <a:txBody>
                    <a:bodyPr/>
                    <a:lstStyle/>
                    <a:p>
                      <a:pPr algn="r" indent="0" marL="0">
                        <a:buNone/>
                      </a:pPr>
                      <a:r>
                        <a:rPr lang="en-US" sz="1300" b="1" dirty="0">
                          <a:solidFill>
                            <a:srgbClr val="14211E"/>
                          </a:solidFill>
                        </a:rPr>
                        <a:t>4.950.000</a:t>
                      </a:r>
                      <a:endParaRPr lang="en-US" sz="1300" dirty="0"/>
                    </a:p>
                  </a:txBody>
                  <a:tcPr marL="73152" marR="73152" marT="73152" marB="73152"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1F5EE"/>
                    </a:solidFill>
                  </a:tcPr>
                </a:tc>
              </a:tr>
            </a:tbl>
          </a:graphicData>
        </a:graphic>
      </p:graphicFrame>
      <p:sp>
        <p:nvSpPr>
          <p:cNvPr id="5" name="Shape 2"/>
          <p:cNvSpPr/>
          <p:nvPr/>
        </p:nvSpPr>
        <p:spPr>
          <a:xfrm>
            <a:off x="7589520" y="2103120"/>
            <a:ext cx="4023360" cy="1737360"/>
          </a:xfrm>
          <a:prstGeom prst="roundRect">
            <a:avLst>
              <a:gd name="adj" fmla="val 6316"/>
            </a:avLst>
          </a:prstGeom>
          <a:solidFill>
            <a:srgbClr val="0B3B33"/>
          </a:solidFill>
          <a:ln w="9525">
            <a:solidFill>
              <a:srgbClr val="0B3B33"/>
            </a:solidFill>
            <a:prstDash val="solid"/>
          </a:ln>
        </p:spPr>
      </p:sp>
      <p:sp>
        <p:nvSpPr>
          <p:cNvPr id="6" name="Text 3"/>
          <p:cNvSpPr txBox="1"/>
          <p:nvPr/>
        </p:nvSpPr>
        <p:spPr>
          <a:xfrm>
            <a:off x="7818120" y="2286000"/>
            <a:ext cx="3566160" cy="731520"/>
          </a:xfrm>
          <a:prstGeom prst="rect">
            <a:avLst/>
          </a:prstGeom>
          <a:noFill/>
          <a:ln/>
        </p:spPr>
        <p:txBody>
          <a:bodyPr wrap="square" lIns="0" tIns="0" rIns="0" bIns="0" rtlCol="0" anchor="ctr"/>
          <a:lstStyle/>
          <a:p>
            <a:pPr indent="0" marL="0">
              <a:buNone/>
            </a:pPr>
            <a:r>
              <a:rPr lang="en-US" sz="4000" b="1" dirty="0">
                <a:solidFill>
                  <a:srgbClr val="9FE1CB"/>
                </a:solidFill>
              </a:rPr>
              <a:t>Rp33,2 jt</a:t>
            </a:r>
            <a:endParaRPr lang="en-US" sz="4000" dirty="0"/>
          </a:p>
        </p:txBody>
      </p:sp>
      <p:sp>
        <p:nvSpPr>
          <p:cNvPr id="7" name="Text 4"/>
          <p:cNvSpPr txBox="1"/>
          <p:nvPr/>
        </p:nvSpPr>
        <p:spPr>
          <a:xfrm>
            <a:off x="7818120" y="3063240"/>
            <a:ext cx="3566160" cy="594360"/>
          </a:xfrm>
          <a:prstGeom prst="rect">
            <a:avLst/>
          </a:prstGeom>
          <a:noFill/>
          <a:ln/>
        </p:spPr>
        <p:txBody>
          <a:bodyPr wrap="square" lIns="0" tIns="0" rIns="0" bIns="0" rtlCol="0" anchor="t"/>
          <a:lstStyle/>
          <a:p>
            <a:pPr indent="0" marL="0">
              <a:spcAft>
                <a:spcPts val="400"/>
              </a:spcAft>
              <a:buNone/>
            </a:pPr>
            <a:r>
              <a:rPr lang="en-US" sz="1300" dirty="0">
                <a:solidFill>
                  <a:srgbClr val="FFFFFF"/>
                </a:solidFill>
              </a:rPr>
              <a:t>anggaran diajukan: biaya dasar Rp28,9 jt + cadangan risiko Rp2,67 jt (Σ peluang × dampak, 9 risiko) + cadangan manajemen 5 %.</a:t>
            </a:r>
            <a:endParaRPr lang="en-US" sz="1300" dirty="0"/>
          </a:p>
        </p:txBody>
      </p:sp>
      <p:sp>
        <p:nvSpPr>
          <p:cNvPr id="8" name="Shape 5"/>
          <p:cNvSpPr/>
          <p:nvPr/>
        </p:nvSpPr>
        <p:spPr>
          <a:xfrm>
            <a:off x="7589520" y="4023360"/>
            <a:ext cx="4023360" cy="1737360"/>
          </a:xfrm>
          <a:prstGeom prst="roundRect">
            <a:avLst>
              <a:gd name="adj" fmla="val 6316"/>
            </a:avLst>
          </a:prstGeom>
          <a:solidFill>
            <a:srgbClr val="FFFFFF"/>
          </a:solidFill>
          <a:ln w="9525">
            <a:solidFill>
              <a:srgbClr val="D9D6CC"/>
            </a:solidFill>
            <a:prstDash val="solid"/>
          </a:ln>
        </p:spPr>
      </p:sp>
      <p:sp>
        <p:nvSpPr>
          <p:cNvPr id="9" name="Text 6"/>
          <p:cNvSpPr txBox="1"/>
          <p:nvPr/>
        </p:nvSpPr>
        <p:spPr>
          <a:xfrm>
            <a:off x="7818120" y="4206240"/>
            <a:ext cx="3566160" cy="365760"/>
          </a:xfrm>
          <a:prstGeom prst="rect">
            <a:avLst/>
          </a:prstGeom>
          <a:noFill/>
          <a:ln/>
        </p:spPr>
        <p:txBody>
          <a:bodyPr wrap="square" lIns="0" tIns="0" rIns="0" bIns="0" rtlCol="0" anchor="ctr"/>
          <a:lstStyle/>
          <a:p>
            <a:pPr indent="0" marL="0">
              <a:buNone/>
            </a:pPr>
            <a:r>
              <a:rPr lang="en-US" sz="1600" b="1" dirty="0">
                <a:solidFill>
                  <a:srgbClr val="14211E"/>
                </a:solidFill>
              </a:rPr>
              <a:t>Cadangan risiko</a:t>
            </a:r>
            <a:endParaRPr lang="en-US" sz="1600" dirty="0"/>
          </a:p>
        </p:txBody>
      </p:sp>
      <p:sp>
        <p:nvSpPr>
          <p:cNvPr id="10" name="Text 7"/>
          <p:cNvSpPr txBox="1"/>
          <p:nvPr/>
        </p:nvSpPr>
        <p:spPr>
          <a:xfrm>
            <a:off x="7818120" y="4617720"/>
            <a:ext cx="3566160" cy="960120"/>
          </a:xfrm>
          <a:prstGeom prst="rect">
            <a:avLst/>
          </a:prstGeom>
          <a:noFill/>
          <a:ln/>
        </p:spPr>
        <p:txBody>
          <a:bodyPr wrap="square" lIns="0" tIns="0" rIns="0" bIns="0" rtlCol="0" anchor="t"/>
          <a:lstStyle/>
          <a:p>
            <a:pPr indent="0" marL="0">
              <a:spcAft>
                <a:spcPts val="400"/>
              </a:spcAft>
              <a:buNone/>
            </a:pPr>
            <a:r>
              <a:rPr lang="en-US" sz="1200" dirty="0">
                <a:solidFill>
                  <a:srgbClr val="4A5568"/>
                </a:solidFill>
              </a:rPr>
              <a:t>Barang terlambat, tukang pipa tidak hadir (pengganti lebih mahal), sinyal lemah, harga naik, akses tertunda.</a:t>
            </a:r>
            <a:endParaRPr lang="en-US" sz="1200" dirty="0"/>
          </a:p>
          <a:p>
            <a:pPr indent="0" marL="0">
              <a:spcAft>
                <a:spcPts val="400"/>
              </a:spcAft>
              <a:buNone/>
            </a:pPr>
            <a:r>
              <a:rPr lang="en-US" sz="1200" dirty="0">
                <a:solidFill>
                  <a:srgbClr val="4A5568"/>
                </a:solidFill>
              </a:rPr>
              <a:t>Buffer jadwal dua minggu dari dampak jadwal × peluang.</a:t>
            </a:r>
            <a:endParaRPr lang="en-US" sz="1200" dirty="0"/>
          </a:p>
        </p:txBody>
      </p:sp>
      <p:sp>
        <p:nvSpPr>
          <p:cNvPr id="11" name="Text 8"/>
          <p:cNvSpPr txBox="1"/>
          <p:nvPr/>
        </p:nvSpPr>
        <p:spPr>
          <a:xfrm>
            <a:off x="548640" y="5760720"/>
            <a:ext cx="10972800" cy="274320"/>
          </a:xfrm>
          <a:prstGeom prst="rect">
            <a:avLst/>
          </a:prstGeom>
          <a:noFill/>
          <a:ln/>
        </p:spPr>
        <p:txBody>
          <a:bodyPr wrap="square" lIns="0" tIns="0" rIns="0" bIns="0" rtlCol="0" anchor="ctr"/>
          <a:lstStyle/>
          <a:p>
            <a:pPr indent="0" marL="0">
              <a:buNone/>
            </a:pPr>
            <a:r>
              <a:rPr lang="en-US" sz="1000" dirty="0">
                <a:solidFill>
                  <a:srgbClr val="4A5568"/>
                </a:solidFill>
              </a:rPr>
              <a:t>Rincian komponen, daftar risiko, dan lembar Excel berformula ada di dokumen proposal; harga Oktober 2026</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JADWAL PELAKSANAAN</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Dua belas minggu dari awal November 2026, dua kunjungan pemasangan, pelatihan pertengahan Januari</a:t>
            </a:r>
            <a:endParaRPr lang="en-US" sz="2800" dirty="0"/>
          </a:p>
        </p:txBody>
      </p:sp>
      <p:sp>
        <p:nvSpPr>
          <p:cNvPr id="4" name="Shape 2"/>
          <p:cNvSpPr/>
          <p:nvPr/>
        </p:nvSpPr>
        <p:spPr>
          <a:xfrm>
            <a:off x="2156968" y="1828800"/>
            <a:ext cx="7847584" cy="4389120"/>
          </a:xfrm>
          <a:prstGeom prst="roundRect">
            <a:avLst>
              <a:gd name="adj" fmla="val 2083"/>
            </a:avLst>
          </a:prstGeom>
          <a:solidFill>
            <a:srgbClr val="FFFFFF"/>
          </a:solidFill>
          <a:ln w="9525">
            <a:solidFill>
              <a:srgbClr val="D9D6CC"/>
            </a:solidFill>
            <a:prstDash val="solid"/>
          </a:ln>
        </p:spPr>
      </p:sp>
      <p:pic>
        <p:nvPicPr>
          <p:cNvPr id="5" name="Image 0" descr="preencoded.png">    </p:cNvPr>
          <p:cNvPicPr>
            <a:picLocks noChangeAspect="1"/>
          </p:cNvPicPr>
          <p:nvPr/>
        </p:nvPicPr>
        <p:blipFill>
          <a:blip r:embed="rId1"/>
          <a:stretch>
            <a:fillRect/>
          </a:stretch>
        </p:blipFill>
        <p:spPr>
          <a:xfrm>
            <a:off x="2248408" y="1920240"/>
            <a:ext cx="7664704" cy="420624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315200" cy="320040"/>
          </a:xfrm>
          <a:prstGeom prst="rect">
            <a:avLst/>
          </a:prstGeom>
          <a:noFill/>
          <a:ln/>
        </p:spPr>
        <p:txBody>
          <a:bodyPr wrap="square" lIns="0" tIns="0" rIns="0" bIns="0" rtlCol="0"/>
          <a:lstStyle/>
          <a:p>
            <a:pPr indent="0" marL="0">
              <a:buNone/>
            </a:pPr>
            <a:r>
              <a:rPr lang="en-US" sz="1200" b="1" spc="200" kern="0" dirty="0">
                <a:solidFill>
                  <a:srgbClr val="D85A30"/>
                </a:solidFill>
              </a:rPr>
              <a:t>KEBERLANJUTAN DAN RISIKO</a:t>
            </a:r>
            <a:endParaRPr lang="en-US" sz="1200" dirty="0"/>
          </a:p>
        </p:txBody>
      </p:sp>
      <p:sp>
        <p:nvSpPr>
          <p:cNvPr id="3" name="Text 0"/>
          <p:cNvSpPr/>
          <p:nvPr>
            <p:ph idx="101" type="title" hasCustomPrompt="1"/>
          </p:nvPr>
        </p:nvSpPr>
        <p:spPr>
          <a:xfrm>
            <a:off x="548640" y="685800"/>
            <a:ext cx="11064240" cy="1097280"/>
          </a:xfrm>
          <a:prstGeom prst="rect">
            <a:avLst/>
          </a:prstGeom>
          <a:noFill/>
          <a:ln/>
        </p:spPr>
        <p:txBody>
          <a:bodyPr wrap="square" lIns="0" tIns="0" rIns="0" bIns="0" rtlCol="0" anchor="t"/>
          <a:lstStyle/>
          <a:p>
            <a:pPr algn="l" indent="0" marL="0">
              <a:buNone/>
            </a:pPr>
            <a:r>
              <a:rPr lang="en-US" sz="2800" b="1" dirty="0">
                <a:solidFill>
                  <a:srgbClr val="14211E"/>
                </a:solidFill>
              </a:rPr>
              <a:t>Alat dirancang agar dirawat warga sendiri, dengan pendampingan satu tahun</a:t>
            </a:r>
            <a:endParaRPr lang="en-US" sz="2800" dirty="0"/>
          </a:p>
        </p:txBody>
      </p:sp>
      <p:sp>
        <p:nvSpPr>
          <p:cNvPr id="4" name="Shape 2"/>
          <p:cNvSpPr/>
          <p:nvPr/>
        </p:nvSpPr>
        <p:spPr>
          <a:xfrm>
            <a:off x="548640" y="2011680"/>
            <a:ext cx="5394960" cy="3657600"/>
          </a:xfrm>
          <a:prstGeom prst="roundRect">
            <a:avLst>
              <a:gd name="adj" fmla="val 3000"/>
            </a:avLst>
          </a:prstGeom>
          <a:solidFill>
            <a:srgbClr val="FFFFFF"/>
          </a:solidFill>
          <a:ln w="9525">
            <a:solidFill>
              <a:srgbClr val="D9D6CC"/>
            </a:solidFill>
            <a:prstDash val="solid"/>
          </a:ln>
        </p:spPr>
      </p:sp>
      <p:sp>
        <p:nvSpPr>
          <p:cNvPr id="5" name="Text 3"/>
          <p:cNvSpPr txBox="1"/>
          <p:nvPr/>
        </p:nvSpPr>
        <p:spPr>
          <a:xfrm>
            <a:off x="777240" y="2194560"/>
            <a:ext cx="4937760" cy="3291840"/>
          </a:xfrm>
          <a:prstGeom prst="rect">
            <a:avLst/>
          </a:prstGeom>
          <a:noFill/>
          <a:ln/>
        </p:spPr>
        <p:txBody>
          <a:bodyPr wrap="square" lIns="0" tIns="0" rIns="0" bIns="0" rtlCol="0" anchor="t"/>
          <a:lstStyle/>
          <a:p>
            <a:pPr indent="0" marL="0">
              <a:spcAft>
                <a:spcPts val="600"/>
              </a:spcAft>
              <a:buNone/>
            </a:pPr>
            <a:r>
              <a:rPr lang="en-US" sz="1500" b="1" dirty="0">
                <a:solidFill>
                  <a:srgbClr val="0F6E56"/>
                </a:solidFill>
              </a:rPr>
              <a:t>Perawatan rutin hanya tiga hal</a:t>
            </a:r>
            <a:endParaRPr lang="en-US" sz="1300" dirty="0"/>
          </a:p>
          <a:p>
            <a:pPr indent="0" marL="0">
              <a:spcAft>
                <a:spcPts val="1400"/>
              </a:spcAft>
              <a:buNone/>
            </a:pPr>
            <a:r>
              <a:rPr lang="en-US" sz="1300" dirty="0">
                <a:solidFill>
                  <a:srgbClr val="4A5568"/>
                </a:solidFill>
              </a:rPr>
              <a:t>Bersihkan strainer sebulan sekali. Cek tegangan aki cadangan dari dashboard. Isi pulsa data tiap bulan.</a:t>
            </a:r>
            <a:endParaRPr lang="en-US" sz="1300" dirty="0"/>
          </a:p>
          <a:p>
            <a:pPr indent="0" marL="0">
              <a:spcAft>
                <a:spcPts val="600"/>
              </a:spcAft>
              <a:buNone/>
            </a:pPr>
            <a:r>
              <a:rPr lang="en-US" sz="1500" b="1" dirty="0">
                <a:solidFill>
                  <a:srgbClr val="0F6E56"/>
                </a:solidFill>
              </a:rPr>
              <a:t>Peran mitra desa</a:t>
            </a:r>
            <a:endParaRPr lang="en-US" sz="1300" dirty="0"/>
          </a:p>
          <a:p>
            <a:pPr indent="0" marL="0">
              <a:buNone/>
            </a:pPr>
            <a:r>
              <a:rPr lang="en-US" sz="1300" dirty="0">
                <a:solidFill>
                  <a:srgbClr val="4A5568"/>
                </a:solidFill>
              </a:rPr>
              <a:t>Dua pengelola per desa ikut pelatihan, akses ke rumah pompa saat pemasangan, pulsa data dari kas air, grup Telegram bersama tim.</a:t>
            </a:r>
            <a:endParaRPr lang="en-US" sz="1300" dirty="0"/>
          </a:p>
        </p:txBody>
      </p:sp>
      <p:sp>
        <p:nvSpPr>
          <p:cNvPr id="6" name="Shape 4"/>
          <p:cNvSpPr/>
          <p:nvPr/>
        </p:nvSpPr>
        <p:spPr>
          <a:xfrm>
            <a:off x="6217920" y="2011680"/>
            <a:ext cx="5394960" cy="3657600"/>
          </a:xfrm>
          <a:prstGeom prst="roundRect">
            <a:avLst>
              <a:gd name="adj" fmla="val 3000"/>
            </a:avLst>
          </a:prstGeom>
          <a:solidFill>
            <a:srgbClr val="FFFFFF"/>
          </a:solidFill>
          <a:ln w="9525">
            <a:solidFill>
              <a:srgbClr val="D9D6CC"/>
            </a:solidFill>
            <a:prstDash val="solid"/>
          </a:ln>
        </p:spPr>
      </p:sp>
      <p:sp>
        <p:nvSpPr>
          <p:cNvPr id="7" name="Text 5"/>
          <p:cNvSpPr txBox="1"/>
          <p:nvPr/>
        </p:nvSpPr>
        <p:spPr>
          <a:xfrm>
            <a:off x="6446520" y="2194560"/>
            <a:ext cx="4937760" cy="3291840"/>
          </a:xfrm>
          <a:prstGeom prst="rect">
            <a:avLst/>
          </a:prstGeom>
          <a:noFill/>
          <a:ln/>
        </p:spPr>
        <p:txBody>
          <a:bodyPr wrap="square" lIns="0" tIns="0" rIns="0" bIns="0" rtlCol="0" anchor="t"/>
          <a:lstStyle/>
          <a:p>
            <a:pPr indent="0" marL="0">
              <a:spcAft>
                <a:spcPts val="600"/>
              </a:spcAft>
              <a:buNone/>
            </a:pPr>
            <a:r>
              <a:rPr lang="en-US" sz="1500" b="1" dirty="0">
                <a:solidFill>
                  <a:srgbClr val="D85A30"/>
                </a:solidFill>
              </a:rPr>
              <a:t>Risiko dan penanganannya</a:t>
            </a:r>
            <a:endParaRPr lang="en-US" sz="1300" dirty="0"/>
          </a:p>
          <a:p>
            <a:pPr indent="0" marL="0">
              <a:buNone/>
            </a:pPr>
            <a:r>
              <a:rPr lang="en-US" sz="1300" b="1" dirty="0">
                <a:solidFill>
                  <a:srgbClr val="4A5568"/>
                </a:solidFill>
              </a:rPr>
              <a:t>Sinyal 4G lemah:</a:t>
            </a:r>
            <a:pPr indent="0" marL="0">
              <a:spcAft>
                <a:spcPts val="600"/>
              </a:spcAft>
              <a:buNone/>
            </a:pPr>
            <a:r>
              <a:rPr lang="en-US" sz="1300" dirty="0">
                <a:solidFill>
                  <a:srgbClr val="4A5568"/>
                </a:solidFill>
              </a:rPr>
              <a:t> survei awal, antena eksternal, buffer microSD.</a:t>
            </a:r>
            <a:endParaRPr lang="en-US" sz="1300" dirty="0"/>
          </a:p>
          <a:p>
            <a:pPr indent="0" marL="0">
              <a:buNone/>
            </a:pPr>
            <a:r>
              <a:rPr lang="en-US" sz="1300" b="1" dirty="0">
                <a:solidFill>
                  <a:srgbClr val="4A5568"/>
                </a:solidFill>
              </a:rPr>
              <a:t>Pasir menyumbat:</a:t>
            </a:r>
            <a:pPr indent="0" marL="0">
              <a:spcAft>
                <a:spcPts val="600"/>
              </a:spcAft>
              <a:buNone/>
            </a:pPr>
            <a:r>
              <a:rPr lang="en-US" sz="1300" dirty="0">
                <a:solidFill>
                  <a:srgbClr val="4A5568"/>
                </a:solidFill>
              </a:rPr>
              <a:t> strainer Y di hulu, dibersihkan bulanan.</a:t>
            </a:r>
            <a:endParaRPr lang="en-US" sz="1300" dirty="0"/>
          </a:p>
          <a:p>
            <a:pPr indent="0" marL="0">
              <a:buNone/>
            </a:pPr>
            <a:r>
              <a:rPr lang="en-US" sz="1300" b="1" dirty="0">
                <a:solidFill>
                  <a:srgbClr val="4A5568"/>
                </a:solidFill>
              </a:rPr>
              <a:t>PLN padam lama:</a:t>
            </a:r>
            <a:pPr indent="0" marL="0">
              <a:spcAft>
                <a:spcPts val="600"/>
              </a:spcAft>
              <a:buNone/>
            </a:pPr>
            <a:r>
              <a:rPr lang="en-US" sz="1300" dirty="0">
                <a:solidFill>
                  <a:srgbClr val="4A5568"/>
                </a:solidFill>
              </a:rPr>
              <a:t> aki 7 Ah menahan node lebih dari sehari; pompa pun ikut mati.</a:t>
            </a:r>
            <a:endParaRPr lang="en-US" sz="1300" dirty="0"/>
          </a:p>
          <a:p>
            <a:pPr indent="0" marL="0">
              <a:buNone/>
            </a:pPr>
            <a:r>
              <a:rPr lang="en-US" sz="1300" b="1" dirty="0">
                <a:solidFill>
                  <a:srgbClr val="4A5568"/>
                </a:solidFill>
              </a:rPr>
              <a:t>Sensor level bergeser:</a:t>
            </a:r>
            <a:pPr indent="0" marL="0">
              <a:spcAft>
                <a:spcPts val="600"/>
              </a:spcAft>
              <a:buNone/>
            </a:pPr>
            <a:r>
              <a:rPr lang="en-US" sz="1300" dirty="0">
                <a:solidFill>
                  <a:srgbClr val="4A5568"/>
                </a:solidFill>
              </a:rPr>
              <a:t> kalibrasi ulang dua titik saat kunjungan; alarm bila loop putus.</a:t>
            </a:r>
            <a:endParaRPr lang="en-US" sz="1300" dirty="0"/>
          </a:p>
          <a:p>
            <a:pPr indent="0" marL="0">
              <a:buNone/>
            </a:pPr>
            <a:r>
              <a:rPr lang="en-US" sz="1300" b="1" dirty="0">
                <a:solidFill>
                  <a:srgbClr val="4A5568"/>
                </a:solidFill>
              </a:rPr>
              <a:t>Dashboard tidak dibuka:</a:t>
            </a:r>
            <a:pPr indent="0" marL="0">
              <a:spcAft>
                <a:spcPts val="600"/>
              </a:spcAft>
              <a:buNone/>
            </a:pPr>
            <a:r>
              <a:rPr lang="en-US" sz="1300" dirty="0">
                <a:solidFill>
                  <a:srgbClr val="4A5568"/>
                </a:solidFill>
              </a:rPr>
              <a:t> ringkasan harian otomatis ke Telegram.</a:t>
            </a:r>
            <a:endParaRPr lang="en-US" sz="1300" dirty="0"/>
          </a:p>
        </p:txBody>
      </p:sp>
      <p:sp>
        <p:nvSpPr>
          <p:cNvPr id="8" name="Text 6"/>
          <p:cNvSpPr txBox="1"/>
          <p:nvPr/>
        </p:nvSpPr>
        <p:spPr>
          <a:xfrm>
            <a:off x="548640" y="5806440"/>
            <a:ext cx="11064240" cy="548640"/>
          </a:xfrm>
          <a:prstGeom prst="rect">
            <a:avLst/>
          </a:prstGeom>
          <a:noFill/>
          <a:ln/>
        </p:spPr>
        <p:txBody>
          <a:bodyPr wrap="square" lIns="0" tIns="0" rIns="0" bIns="0" rtlCol="0" anchor="t"/>
          <a:lstStyle/>
          <a:p>
            <a:pPr indent="0" marL="0">
              <a:spcAft>
                <a:spcPts val="1000"/>
              </a:spcAft>
              <a:buNone/>
            </a:pPr>
            <a:r>
              <a:rPr lang="en-US" sz="1200" dirty="0">
                <a:solidFill>
                  <a:srgbClr val="4A5568"/>
                </a:solidFill>
              </a:rPr>
              <a:t>Tahap lanjutan yang bisa diajukan terpisah: meteran per rumah di desa dengan pelanggan terbanyak, untuk menghitung kebocoran jaringan distribusi.</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8"/>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731520"/>
            <a:ext cx="5486400" cy="365760"/>
          </a:xfrm>
          <a:prstGeom prst="rect">
            <a:avLst/>
          </a:prstGeom>
          <a:noFill/>
          <a:ln/>
        </p:spPr>
        <p:txBody>
          <a:bodyPr wrap="square" lIns="0" tIns="0" rIns="0" bIns="0" rtlCol="0" anchor="ctr"/>
          <a:lstStyle/>
          <a:p>
            <a:pPr indent="0" marL="0">
              <a:buNone/>
            </a:pPr>
            <a:r>
              <a:rPr lang="en-US" sz="1300" b="1" spc="300" kern="0" dirty="0">
                <a:solidFill>
                  <a:srgbClr val="9FE1CB"/>
                </a:solidFill>
              </a:rPr>
              <a:t>PENUTUP</a:t>
            </a:r>
            <a:endParaRPr lang="en-US" sz="1300" dirty="0"/>
          </a:p>
        </p:txBody>
      </p:sp>
      <p:sp>
        <p:nvSpPr>
          <p:cNvPr id="3" name="Text 1"/>
          <p:cNvSpPr txBox="1"/>
          <p:nvPr/>
        </p:nvSpPr>
        <p:spPr>
          <a:xfrm>
            <a:off x="731520" y="1280160"/>
            <a:ext cx="10515600" cy="2194560"/>
          </a:xfrm>
          <a:prstGeom prst="rect">
            <a:avLst/>
          </a:prstGeom>
          <a:noFill/>
          <a:ln/>
        </p:spPr>
        <p:txBody>
          <a:bodyPr wrap="square" lIns="0" tIns="0" rIns="0" bIns="0" rtlCol="0" anchor="t"/>
          <a:lstStyle/>
          <a:p>
            <a:pPr indent="0" marL="0">
              <a:buNone/>
            </a:pPr>
            <a:r>
              <a:rPr lang="en-US" sz="3200" b="1" dirty="0">
                <a:solidFill>
                  <a:srgbClr val="FFFFFF"/>
                </a:solidFill>
              </a:rPr>
              <a:t>Dengan Rp33,2 juta termasuk cadangan risiko, dan dua belas minggu, lima desa mendapat catatan air masuk, keluar, dan isi toren, peringatan dini kebocoran dan luapan, serta dasar iuran yang adil</a:t>
            </a:r>
            <a:endParaRPr lang="en-US" sz="3200" dirty="0"/>
          </a:p>
        </p:txBody>
      </p:sp>
      <p:sp>
        <p:nvSpPr>
          <p:cNvPr id="4" name="Text 2"/>
          <p:cNvSpPr txBox="1"/>
          <p:nvPr/>
        </p:nvSpPr>
        <p:spPr>
          <a:xfrm>
            <a:off x="731520" y="3657600"/>
            <a:ext cx="9601200" cy="914400"/>
          </a:xfrm>
          <a:prstGeom prst="rect">
            <a:avLst/>
          </a:prstGeom>
          <a:noFill/>
          <a:ln/>
        </p:spPr>
        <p:txBody>
          <a:bodyPr wrap="square" lIns="0" tIns="0" rIns="0" bIns="0" rtlCol="0" anchor="t"/>
          <a:lstStyle/>
          <a:p>
            <a:pPr indent="0" marL="0">
              <a:buNone/>
            </a:pPr>
            <a:r>
              <a:rPr lang="en-US" sz="1500" dirty="0">
                <a:solidFill>
                  <a:srgbClr val="BFD8D5"/>
                </a:solidFill>
              </a:rPr>
              <a:t>Rancangan akan disesuaikan setelah survei. Tiga hal yang perlu dipastikan di lokasi: jumlah rumah tersambung tiap desa, kuat sinyal IM3 di rumah pompa, dan jenis pelampung pompa.</a:t>
            </a:r>
            <a:endParaRPr lang="en-US" sz="1500" dirty="0"/>
          </a:p>
        </p:txBody>
      </p:sp>
      <p:sp>
        <p:nvSpPr>
          <p:cNvPr id="5" name="Text 3"/>
          <p:cNvSpPr txBox="1"/>
          <p:nvPr/>
        </p:nvSpPr>
        <p:spPr>
          <a:xfrm>
            <a:off x="731520" y="5212080"/>
            <a:ext cx="10058400" cy="1097280"/>
          </a:xfrm>
          <a:prstGeom prst="rect">
            <a:avLst/>
          </a:prstGeom>
          <a:noFill/>
          <a:ln/>
        </p:spPr>
        <p:txBody>
          <a:bodyPr wrap="square" lIns="0" tIns="0" rIns="0" bIns="0" rtlCol="0" anchor="t"/>
          <a:lstStyle/>
          <a:p>
            <a:pPr indent="0" marL="0">
              <a:buNone/>
            </a:pPr>
            <a:r>
              <a:rPr lang="en-US" sz="1600" b="1" dirty="0">
                <a:solidFill>
                  <a:srgbClr val="FFFFFF"/>
                </a:solidFill>
              </a:rPr>
              <a:t>Ir. Ratna Hartayu, M.T.</a:t>
            </a:r>
            <a:endParaRPr lang="en-US" sz="1600" dirty="0"/>
          </a:p>
          <a:p>
            <a:pPr indent="0" marL="0">
              <a:buNone/>
            </a:pPr>
            <a:r>
              <a:rPr lang="en-US" sz="1200" dirty="0">
                <a:solidFill>
                  <a:srgbClr val="BFD8D5"/>
                </a:solidFill>
              </a:rPr>
              <a:t>S1 Teknik Elektro, FTEIC, Universitas 17 Agustus 1945 Surabaya</a:t>
            </a:r>
            <a:endParaRPr lang="en-US" sz="1600" dirty="0"/>
          </a:p>
          <a:p>
            <a:pPr indent="0" marL="0">
              <a:buNone/>
            </a:pPr>
            <a:r>
              <a:rPr lang="en-US" sz="1200" dirty="0">
                <a:solidFill>
                  <a:srgbClr val="9FE1CB"/>
                </a:solidFill>
              </a:rPr>
              <a:t>rhartayu@untag-sby.ac.id</a:t>
            </a:r>
            <a:endParaRPr lang="en-US" sz="1600" dirty="0"/>
          </a:p>
        </p:txBody>
      </p:sp>
    </p:spTree>
  </p:cSld>
  <p:clrMapOvr>
    <a:masterClrMapping/>
  </p:clrMapOvr>
</p:sld>
</file>

<file path=ppt/theme/theme1.xml><?xml version="1.0" encoding="utf-8"?>
<a:theme xmlns:a="http://schemas.openxmlformats.org/drawingml/2006/main" name="Tandon Desa">
  <a:themeElements>
    <a:clrScheme name="Tandon Desa">
      <a:dk1>
        <a:srgbClr val="14211E"/>
      </a:dk1>
      <a:lt1>
        <a:srgbClr val="FFFFFF"/>
      </a:lt1>
      <a:dk2>
        <a:srgbClr val="0B3B33"/>
      </a:dk2>
      <a:lt2>
        <a:srgbClr val="EEF2EF"/>
      </a:lt2>
      <a:accent1>
        <a:srgbClr val="1D9E75"/>
      </a:accent1>
      <a:accent2>
        <a:srgbClr val="D85A30"/>
      </a:accent2>
      <a:accent3>
        <a:srgbClr val="9FE1CB"/>
      </a:accent3>
      <a:accent4>
        <a:srgbClr val="4A5568"/>
      </a:accent4>
      <a:accent5>
        <a:srgbClr val="0F6E56"/>
      </a:accent5>
      <a:accent6>
        <a:srgbClr val="BFD8D5"/>
      </a:accent6>
      <a:hlink>
        <a:srgbClr val="0F6E56"/>
      </a:hlink>
      <a:folHlink>
        <a:srgbClr val="4A5568"/>
      </a:folHlink>
    </a:clrScheme>
    <a:fontScheme name="Tandon Des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 Monitoring Toren Air Desa Berbasis IoT</dc:title>
  <dc:subject>PptxGenJS Presentation</dc:subject>
  <dc:creator>Ir. Ratna Hartayu, M.T.</dc:creator>
  <cp:lastModifiedBy>Ir. Ratna Hartayu, M.T.</cp:lastModifiedBy>
  <cp:revision>1</cp:revision>
  <dcterms:created xsi:type="dcterms:W3CDTF">2026-10-18T00:16:28Z</dcterms:created>
  <dcterms:modified xsi:type="dcterms:W3CDTF">2026-10-18T00:16:28Z</dcterms:modified>
</cp:coreProperties>
</file>